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9" r:id="rId4"/>
    <p:sldId id="270" r:id="rId5"/>
    <p:sldId id="271" r:id="rId6"/>
    <p:sldId id="272" r:id="rId7"/>
    <p:sldId id="273" r:id="rId8"/>
    <p:sldId id="274" r:id="rId9"/>
    <p:sldId id="275" r:id="rId10"/>
    <p:sldId id="276" r:id="rId11"/>
    <p:sldId id="277" r:id="rId12"/>
    <p:sldId id="278" r:id="rId13"/>
    <p:sldId id="279" r:id="rId14"/>
    <p:sldId id="280" r:id="rId15"/>
    <p:sldId id="281" r:id="rId16"/>
    <p:sldId id="282" r:id="rId17"/>
    <p:sldId id="283" r:id="rId18"/>
    <p:sldId id="284" r:id="rId19"/>
    <p:sldId id="285" r:id="rId20"/>
    <p:sldId id="286" r:id="rId21"/>
    <p:sldId id="268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sz="1500" b="1"/>
              <a:t>Run time (seconds)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Brute force (all pairs)</c:v>
                </c:pt>
              </c:strCache>
            </c:strRef>
          </c:tx>
          <c:spPr>
            <a:solidFill>
              <a:srgbClr val="7F7F7F"/>
            </a:solidFill>
          </c:spPr>
          <c:invertIfNegative val="1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n = 100</c:v>
                </c:pt>
                <c:pt idx="1">
                  <c:v>n = 200</c:v>
                </c:pt>
                <c:pt idx="2">
                  <c:v>n = 400</c:v>
                </c:pt>
                <c:pt idx="3">
                  <c:v>n = 800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3.1E-2</c:v>
                </c:pt>
                <c:pt idx="1">
                  <c:v>0.123</c:v>
                </c:pt>
                <c:pt idx="2">
                  <c:v>0.52200000000000002</c:v>
                </c:pt>
                <c:pt idx="3">
                  <c:v>2.1019999999999999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DD85-44EE-A5B8-D4DEC1F55B3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LSH 60×1</c:v>
                </c:pt>
              </c:strCache>
            </c:strRef>
          </c:tx>
          <c:spPr>
            <a:solidFill>
              <a:srgbClr val="C00000"/>
            </a:solidFill>
          </c:spPr>
          <c:invertIfNegative val="1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n = 100</c:v>
                </c:pt>
                <c:pt idx="1">
                  <c:v>n = 200</c:v>
                </c:pt>
                <c:pt idx="2">
                  <c:v>n = 400</c:v>
                </c:pt>
                <c:pt idx="3">
                  <c:v>n = 800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4.4999999999999998E-2</c:v>
                </c:pt>
                <c:pt idx="1">
                  <c:v>0.05</c:v>
                </c:pt>
                <c:pt idx="2">
                  <c:v>9.4E-2</c:v>
                </c:pt>
                <c:pt idx="3">
                  <c:v>0.17599999999999999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DD85-44EE-A5B8-D4DEC1F55B3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LSH 20×3</c:v>
                </c:pt>
              </c:strCache>
            </c:strRef>
          </c:tx>
          <c:spPr>
            <a:solidFill>
              <a:srgbClr val="E08A8A"/>
            </a:solidFill>
          </c:spPr>
          <c:invertIfNegative val="1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n = 100</c:v>
                </c:pt>
                <c:pt idx="1">
                  <c:v>n = 200</c:v>
                </c:pt>
                <c:pt idx="2">
                  <c:v>n = 400</c:v>
                </c:pt>
                <c:pt idx="3">
                  <c:v>n = 800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1.4E-2</c:v>
                </c:pt>
                <c:pt idx="1">
                  <c:v>2.5000000000000001E-2</c:v>
                </c:pt>
                <c:pt idx="2">
                  <c:v>5.3999999999999999E-2</c:v>
                </c:pt>
                <c:pt idx="3">
                  <c:v>0.112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DD85-44EE-A5B8-D4DEC1F55B3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>
          <c:spPr>
            <a:ln>
              <a:solidFill>
                <a:srgbClr val="D9D9D9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en-US"/>
          </a:p>
        </c:txPr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200"/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1" descr="KL University Hyderabad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4450"/>
            <a:ext cx="2101850" cy="90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/>
          <p:nvPr userDrawn="1"/>
        </p:nvSpPr>
        <p:spPr>
          <a:xfrm>
            <a:off x="0" y="6811963"/>
            <a:ext cx="12192000" cy="46037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46038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10" name="Picture 6" descr="Background pattern&#10;&#10;Description automatically generated"/>
          <p:cNvPicPr>
            <a:picLocks noChangeAspect="1" noChangeArrowheads="1"/>
          </p:cNvPicPr>
          <p:nvPr userDrawn="1"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003550" cy="300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61938" y="1027775"/>
            <a:ext cx="9144000" cy="2316702"/>
          </a:xfrm>
        </p:spPr>
        <p:txBody>
          <a:bodyPr/>
          <a:lstStyle/>
          <a:p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r>
              <a:rPr lang="en-US" sz="4000" b="1" dirty="0">
                <a:solidFill>
                  <a:srgbClr val="C00000"/>
                </a:solidFill>
                <a:latin typeface="+mn-lt"/>
              </a:rPr>
              <a:t>Data Structures and Algorithms -3 (25CS2103E)</a:t>
            </a: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r>
              <a:rPr lang="en-US" sz="4000" b="1" dirty="0">
                <a:solidFill>
                  <a:srgbClr val="C00000"/>
                </a:solidFill>
                <a:latin typeface="+mn-lt"/>
              </a:rPr>
              <a:t>Near-Duplicate Question Finder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70160" y="3513524"/>
            <a:ext cx="4551284" cy="1396014"/>
          </a:xfrm>
        </p:spPr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Team Members </a:t>
            </a:r>
          </a:p>
          <a:p>
            <a:r>
              <a:rPr lang="en-US" sz="1800" dirty="0">
                <a:solidFill>
                  <a:srgbClr val="0070C0"/>
                </a:solidFill>
              </a:rPr>
              <a:t>2520090119 A. SIDDHARTHA VARMA</a:t>
            </a:r>
          </a:p>
          <a:p>
            <a:r>
              <a:rPr lang="en-US" sz="1800" dirty="0">
                <a:solidFill>
                  <a:srgbClr val="0070C0"/>
                </a:solidFill>
              </a:rPr>
              <a:t>2520090202 P. GOWTHAM VARMA</a:t>
            </a:r>
          </a:p>
          <a:p>
            <a:r>
              <a:rPr lang="en-US" sz="1800" dirty="0">
                <a:solidFill>
                  <a:srgbClr val="0070C0"/>
                </a:solidFill>
              </a:rPr>
              <a:t>252009215 K. GIREESH CHOWDARY</a:t>
            </a:r>
            <a:endParaRPr lang="en-US" sz="1800" kern="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Gautami" panose="020B0502040204020203" pitchFamily="34" charset="0"/>
            </a:endParaRPr>
          </a:p>
          <a:p>
            <a:pPr marL="171450" algn="ctr">
              <a:lnSpc>
                <a:spcPct val="107000"/>
              </a:lnSpc>
              <a:spcAft>
                <a:spcPts val="800"/>
              </a:spcAft>
            </a:pPr>
            <a:r>
              <a:rPr lang="en-US" sz="18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Under the Esteemed Guidance of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Gautami" panose="020B0502040204020203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800" b="1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Name of the DSA-3 faculty name with designation and department  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Gautami" panose="020B0502040204020203" pitchFamily="34" charset="0"/>
            </a:endParaRPr>
          </a:p>
          <a:p>
            <a:endParaRPr lang="en-US" dirty="0">
              <a:solidFill>
                <a:srgbClr val="0070C0"/>
              </a:solidFill>
            </a:endParaRPr>
          </a:p>
          <a:p>
            <a:endParaRPr lang="en-US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EAC2F32-24D5-FDE9-EB0F-31C7733C95E6}"/>
              </a:ext>
            </a:extLst>
          </p:cNvPr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A499C0-FC38-6642-1E16-B8CFFC9C9314}"/>
              </a:ext>
            </a:extLst>
          </p:cNvPr>
          <p:cNvSpPr txBox="1"/>
          <p:nvPr/>
        </p:nvSpPr>
        <p:spPr>
          <a:xfrm>
            <a:off x="266007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Contents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143000"/>
            <a:ext cx="4937760" cy="5120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2000"/>
              </a:spcAft>
            </a:pPr>
            <a:r>
              <a:rPr sz="2200" b="1">
                <a:solidFill>
                  <a:srgbClr val="262626"/>
                </a:solidFill>
              </a:rPr>
              <a:t>1.</a:t>
            </a:r>
            <a:r>
              <a:rPr sz="2200" b="0">
                <a:solidFill>
                  <a:srgbClr val="262626"/>
                </a:solidFill>
              </a:rPr>
              <a:t>  Abstract</a:t>
            </a:r>
          </a:p>
          <a:p>
            <a:pPr algn="l">
              <a:spcAft>
                <a:spcPts val="2000"/>
              </a:spcAft>
            </a:pPr>
            <a:r>
              <a:rPr sz="2200" b="1">
                <a:solidFill>
                  <a:srgbClr val="262626"/>
                </a:solidFill>
              </a:rPr>
              <a:t>2.</a:t>
            </a:r>
            <a:r>
              <a:rPr sz="2200" b="0">
                <a:solidFill>
                  <a:srgbClr val="262626"/>
                </a:solidFill>
              </a:rPr>
              <a:t>  Introduction</a:t>
            </a:r>
          </a:p>
          <a:p>
            <a:pPr algn="l">
              <a:spcAft>
                <a:spcPts val="2000"/>
              </a:spcAft>
            </a:pPr>
            <a:r>
              <a:rPr sz="2200" b="1">
                <a:solidFill>
                  <a:srgbClr val="262626"/>
                </a:solidFill>
              </a:rPr>
              <a:t>3.</a:t>
            </a:r>
            <a:r>
              <a:rPr sz="2200" b="0">
                <a:solidFill>
                  <a:srgbClr val="262626"/>
                </a:solidFill>
              </a:rPr>
              <a:t>  Literature Survey</a:t>
            </a:r>
          </a:p>
          <a:p>
            <a:pPr algn="l">
              <a:spcAft>
                <a:spcPts val="2000"/>
              </a:spcAft>
            </a:pPr>
            <a:r>
              <a:rPr sz="2200" b="1">
                <a:solidFill>
                  <a:srgbClr val="262626"/>
                </a:solidFill>
              </a:rPr>
              <a:t>4.</a:t>
            </a:r>
            <a:r>
              <a:rPr sz="2200" b="0">
                <a:solidFill>
                  <a:srgbClr val="262626"/>
                </a:solidFill>
              </a:rPr>
              <a:t>  Problem Statement &amp; Objectives</a:t>
            </a:r>
          </a:p>
          <a:p>
            <a:pPr algn="l">
              <a:spcAft>
                <a:spcPts val="2000"/>
              </a:spcAft>
            </a:pPr>
            <a:r>
              <a:rPr sz="2200" b="1">
                <a:solidFill>
                  <a:srgbClr val="262626"/>
                </a:solidFill>
              </a:rPr>
              <a:t>5.</a:t>
            </a:r>
            <a:r>
              <a:rPr sz="2200" b="0">
                <a:solidFill>
                  <a:srgbClr val="262626"/>
                </a:solidFill>
              </a:rPr>
              <a:t>  Proposed Methodology</a:t>
            </a:r>
          </a:p>
          <a:p>
            <a:pPr algn="l">
              <a:spcAft>
                <a:spcPts val="2000"/>
              </a:spcAft>
            </a:pPr>
            <a:r>
              <a:rPr sz="2200" b="1">
                <a:solidFill>
                  <a:srgbClr val="262626"/>
                </a:solidFill>
              </a:rPr>
              <a:t>6.</a:t>
            </a:r>
            <a:r>
              <a:rPr sz="2200" b="0">
                <a:solidFill>
                  <a:srgbClr val="262626"/>
                </a:solidFill>
              </a:rPr>
              <a:t>  System Architecture</a:t>
            </a:r>
          </a:p>
          <a:p>
            <a:pPr algn="l">
              <a:spcAft>
                <a:spcPts val="2000"/>
              </a:spcAft>
            </a:pPr>
            <a:r>
              <a:rPr sz="2200" b="1">
                <a:solidFill>
                  <a:srgbClr val="262626"/>
                </a:solidFill>
              </a:rPr>
              <a:t>7.</a:t>
            </a:r>
            <a:r>
              <a:rPr sz="2200" b="0">
                <a:solidFill>
                  <a:srgbClr val="262626"/>
                </a:solidFill>
              </a:rPr>
              <a:t>  Hardware &amp; Software Requirements</a:t>
            </a:r>
          </a:p>
          <a:p>
            <a:pPr algn="l">
              <a:spcAft>
                <a:spcPts val="2000"/>
              </a:spcAft>
            </a:pPr>
            <a:r>
              <a:rPr sz="2200" b="1">
                <a:solidFill>
                  <a:srgbClr val="262626"/>
                </a:solidFill>
              </a:rPr>
              <a:t>8.</a:t>
            </a:r>
            <a:r>
              <a:rPr sz="2200" b="0">
                <a:solidFill>
                  <a:srgbClr val="262626"/>
                </a:solidFill>
              </a:rPr>
              <a:t>  Final Implementation</a:t>
            </a:r>
          </a:p>
          <a:p>
            <a:pPr algn="l">
              <a:spcAft>
                <a:spcPts val="2000"/>
              </a:spcAft>
            </a:pPr>
            <a:r>
              <a:rPr sz="2200" b="1">
                <a:solidFill>
                  <a:srgbClr val="262626"/>
                </a:solidFill>
              </a:rPr>
              <a:t>9.</a:t>
            </a:r>
            <a:r>
              <a:rPr sz="2200" b="0">
                <a:solidFill>
                  <a:srgbClr val="262626"/>
                </a:solidFill>
              </a:rPr>
              <a:t>  Modules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143000"/>
            <a:ext cx="4937760" cy="5120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2000"/>
              </a:spcAft>
            </a:pPr>
            <a:r>
              <a:rPr sz="2200" b="1">
                <a:solidFill>
                  <a:srgbClr val="262626"/>
                </a:solidFill>
              </a:rPr>
              <a:t>10.</a:t>
            </a:r>
            <a:r>
              <a:rPr sz="2200" b="0">
                <a:solidFill>
                  <a:srgbClr val="262626"/>
                </a:solidFill>
              </a:rPr>
              <a:t>  Algorithm</a:t>
            </a:r>
          </a:p>
          <a:p>
            <a:pPr algn="l">
              <a:spcAft>
                <a:spcPts val="2000"/>
              </a:spcAft>
            </a:pPr>
            <a:r>
              <a:rPr sz="2200" b="1">
                <a:solidFill>
                  <a:srgbClr val="262626"/>
                </a:solidFill>
              </a:rPr>
              <a:t>11.</a:t>
            </a:r>
            <a:r>
              <a:rPr sz="2200" b="0">
                <a:solidFill>
                  <a:srgbClr val="262626"/>
                </a:solidFill>
              </a:rPr>
              <a:t>  Code / Implementation</a:t>
            </a:r>
          </a:p>
          <a:p>
            <a:pPr algn="l">
              <a:spcAft>
                <a:spcPts val="2000"/>
              </a:spcAft>
            </a:pPr>
            <a:r>
              <a:rPr sz="2200" b="1">
                <a:solidFill>
                  <a:srgbClr val="262626"/>
                </a:solidFill>
              </a:rPr>
              <a:t>12.</a:t>
            </a:r>
            <a:r>
              <a:rPr sz="2200" b="0">
                <a:solidFill>
                  <a:srgbClr val="262626"/>
                </a:solidFill>
              </a:rPr>
              <a:t>  Testing</a:t>
            </a:r>
          </a:p>
          <a:p>
            <a:pPr algn="l">
              <a:spcAft>
                <a:spcPts val="2000"/>
              </a:spcAft>
            </a:pPr>
            <a:r>
              <a:rPr sz="2200" b="1">
                <a:solidFill>
                  <a:srgbClr val="262626"/>
                </a:solidFill>
              </a:rPr>
              <a:t>13.</a:t>
            </a:r>
            <a:r>
              <a:rPr sz="2200" b="0">
                <a:solidFill>
                  <a:srgbClr val="262626"/>
                </a:solidFill>
              </a:rPr>
              <a:t>  Results</a:t>
            </a:r>
          </a:p>
          <a:p>
            <a:pPr algn="l">
              <a:spcAft>
                <a:spcPts val="2000"/>
              </a:spcAft>
            </a:pPr>
            <a:r>
              <a:rPr sz="2200" b="1">
                <a:solidFill>
                  <a:srgbClr val="262626"/>
                </a:solidFill>
              </a:rPr>
              <a:t>14.</a:t>
            </a:r>
            <a:r>
              <a:rPr sz="2200" b="0">
                <a:solidFill>
                  <a:srgbClr val="262626"/>
                </a:solidFill>
              </a:rPr>
              <a:t>  Performance Analysis</a:t>
            </a:r>
          </a:p>
          <a:p>
            <a:pPr algn="l">
              <a:spcAft>
                <a:spcPts val="2000"/>
              </a:spcAft>
            </a:pPr>
            <a:r>
              <a:rPr sz="2200" b="1">
                <a:solidFill>
                  <a:srgbClr val="262626"/>
                </a:solidFill>
              </a:rPr>
              <a:t>15.</a:t>
            </a:r>
            <a:r>
              <a:rPr sz="2200" b="0">
                <a:solidFill>
                  <a:srgbClr val="262626"/>
                </a:solidFill>
              </a:rPr>
              <a:t>  Conclusion</a:t>
            </a:r>
          </a:p>
          <a:p>
            <a:pPr algn="l">
              <a:spcAft>
                <a:spcPts val="2000"/>
              </a:spcAft>
            </a:pPr>
            <a:r>
              <a:rPr sz="2200" b="1">
                <a:solidFill>
                  <a:srgbClr val="262626"/>
                </a:solidFill>
              </a:rPr>
              <a:t>16.</a:t>
            </a:r>
            <a:r>
              <a:rPr sz="2200" b="0">
                <a:solidFill>
                  <a:srgbClr val="262626"/>
                </a:solidFill>
              </a:rPr>
              <a:t>  Future Scope</a:t>
            </a:r>
          </a:p>
          <a:p>
            <a:pPr algn="l">
              <a:spcAft>
                <a:spcPts val="2000"/>
              </a:spcAft>
            </a:pPr>
            <a:r>
              <a:rPr sz="2200" b="1">
                <a:solidFill>
                  <a:srgbClr val="262626"/>
                </a:solidFill>
              </a:rPr>
              <a:t>17.</a:t>
            </a:r>
            <a:r>
              <a:rPr sz="2200" b="0">
                <a:solidFill>
                  <a:srgbClr val="262626"/>
                </a:solidFill>
              </a:rPr>
              <a:t>  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848" y="221673"/>
            <a:ext cx="4718304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3736848" y="221673"/>
            <a:ext cx="47183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solidFill>
                  <a:schemeClr val="bg1"/>
                </a:solidFill>
              </a:rPr>
              <a:t>Abstract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7406640" cy="4937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262626"/>
                </a:solidFill>
              </a:rPr>
              <a:t>Online Q&amp;A platforms collect many questions that ask the same thing in different words, which splits answers and clutters search. Comparing every pair of questions is too slow for large collections.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262626"/>
                </a:solidFill>
              </a:rPr>
              <a:t>This project finds near-duplicate questions in four steps: questions are cleaned and cut into token 3-gram shingles, each shingle gets two polynomial hashes that feed a 60-value MinHash signature, locality-sensitive hashing (LSH) groups similar signatures into buckets, and only the resulting candidate pairs are verified exactly with a longest-common-substring and Jaccard check.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262626"/>
                </a:solidFill>
              </a:rPr>
              <a:t>A Flask web application lets users compare two questions, upload a CSV/Excel dataset, view duplicates, see precision/recall/F1 and download results.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95360" y="1188720"/>
            <a:ext cx="2926080" cy="1371600"/>
          </a:xfrm>
          <a:prstGeom prst="roundRect">
            <a:avLst>
              <a:gd name="adj" fmla="val 6000"/>
            </a:avLst>
          </a:prstGeom>
          <a:solidFill>
            <a:srgbClr val="F7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95360" y="1280160"/>
            <a:ext cx="2926080" cy="7315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4000" b="1">
                <a:solidFill>
                  <a:srgbClr val="C00000"/>
                </a:solidFill>
              </a:rPr>
              <a:t>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41080" y="2057400"/>
            <a:ext cx="283464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0">
                <a:solidFill>
                  <a:srgbClr val="595959"/>
                </a:solidFill>
              </a:rPr>
              <a:t>MinHash values per question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95360" y="2788920"/>
            <a:ext cx="2926080" cy="1371600"/>
          </a:xfrm>
          <a:prstGeom prst="roundRect">
            <a:avLst>
              <a:gd name="adj" fmla="val 6000"/>
            </a:avLst>
          </a:prstGeom>
          <a:solidFill>
            <a:srgbClr val="F7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95360" y="2880360"/>
            <a:ext cx="2926080" cy="7315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4000" b="1">
                <a:solidFill>
                  <a:srgbClr val="C00000"/>
                </a:solidFill>
              </a:rPr>
              <a:t>3 /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41080" y="3657600"/>
            <a:ext cx="283464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0">
                <a:solidFill>
                  <a:srgbClr val="595959"/>
                </a:solidFill>
              </a:rPr>
              <a:t>demo duplicate pairs found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95360" y="4389120"/>
            <a:ext cx="2926080" cy="1371600"/>
          </a:xfrm>
          <a:prstGeom prst="roundRect">
            <a:avLst>
              <a:gd name="adj" fmla="val 6000"/>
            </a:avLst>
          </a:prstGeom>
          <a:solidFill>
            <a:srgbClr val="F7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95360" y="4480560"/>
            <a:ext cx="2926080" cy="7315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4000" b="1">
                <a:solidFill>
                  <a:srgbClr val="C00000"/>
                </a:solidFill>
              </a:rPr>
              <a:t>0.933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41080" y="5257800"/>
            <a:ext cx="283464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0">
                <a:solidFill>
                  <a:srgbClr val="595959"/>
                </a:solidFill>
              </a:rPr>
              <a:t>F1 on 12-pair sample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848" y="221673"/>
            <a:ext cx="4718304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3736848" y="221673"/>
            <a:ext cx="47183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solidFill>
                  <a:schemeClr val="bg1"/>
                </a:solidFill>
              </a:rPr>
              <a:t>Introduction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188720"/>
            <a:ext cx="3520440" cy="3931920"/>
          </a:xfrm>
          <a:prstGeom prst="roundRect">
            <a:avLst>
              <a:gd name="adj" fmla="val 6000"/>
            </a:avLst>
          </a:prstGeom>
          <a:solidFill>
            <a:srgbClr val="F7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68680" y="1371600"/>
            <a:ext cx="384048" cy="384048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371600"/>
            <a:ext cx="2651760" cy="4114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C00000"/>
                </a:solidFill>
              </a:rPr>
              <a:t>Context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011680"/>
            <a:ext cx="3108960" cy="30175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262626"/>
                </a:solidFill>
              </a:rPr>
              <a:t>Q&amp;A sites, help desks and learning portals receive thousands of questions a day. Many repeat an existing question, e.g. “How can I learn Python programming?” vs “What is the best way to learn Python programming?”.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188720"/>
            <a:ext cx="3520440" cy="3931920"/>
          </a:xfrm>
          <a:prstGeom prst="roundRect">
            <a:avLst>
              <a:gd name="adj" fmla="val 6000"/>
            </a:avLst>
          </a:prstGeom>
          <a:solidFill>
            <a:srgbClr val="F7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4617720" y="1371600"/>
            <a:ext cx="384048" cy="384048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1371600"/>
            <a:ext cx="2651760" cy="4114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C00000"/>
                </a:solidFill>
              </a:rPr>
              <a:t>Why it matters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011680"/>
            <a:ext cx="3108960" cy="30175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262626"/>
                </a:solidFill>
              </a:rPr>
              <a:t>Duplicates scatter answers, add noise to search and force manual merging. Brute-force comparison needs n(n−1)/2 checks, and each exact check costs O(m·n).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59" y="1188720"/>
            <a:ext cx="3520440" cy="3931920"/>
          </a:xfrm>
          <a:prstGeom prst="roundRect">
            <a:avLst>
              <a:gd name="adj" fmla="val 6000"/>
            </a:avLst>
          </a:prstGeom>
          <a:solidFill>
            <a:srgbClr val="F7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8366759" y="1371600"/>
            <a:ext cx="384048" cy="384048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0" y="1371600"/>
            <a:ext cx="2651760" cy="4114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C00000"/>
                </a:solidFill>
              </a:rPr>
              <a:t>Our approach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59" y="2011680"/>
            <a:ext cx="3108960" cy="30175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262626"/>
                </a:solidFill>
              </a:rPr>
              <a:t>Shrink each question to a short signature, use LSH to pick only likely pairs, then confirm them with an exact check. Delivered as a usable web tool.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394960"/>
            <a:ext cx="10881360" cy="7315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595959"/>
                </a:solidFill>
              </a:rPr>
              <a:t>DSA concepts used: hashing, sets and dictionaries, dynamic programming, complexity analysis.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848" y="221673"/>
            <a:ext cx="4718304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3736848" y="221673"/>
            <a:ext cx="47183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solidFill>
                  <a:schemeClr val="bg1"/>
                </a:solidFill>
              </a:rPr>
              <a:t>Literature Survey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143000"/>
          <a:ext cx="10881360" cy="43525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6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69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86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1792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</a:rPr>
                        <a:t>Work</a:t>
                      </a:r>
                    </a:p>
                  </a:txBody>
                  <a:tcPr marL="73152" marR="73152" marT="27432" marB="27432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</a:rPr>
                        <a:t>Key idea</a:t>
                      </a:r>
                    </a:p>
                  </a:txBody>
                  <a:tcPr marL="73152" marR="73152" marT="27432" marB="27432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</a:rPr>
                        <a:t>Relevance to this project</a:t>
                      </a:r>
                    </a:p>
                  </a:txBody>
                  <a:tcPr marL="73152" marR="73152" marT="27432" marB="27432"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62626"/>
                          </a:solidFill>
                        </a:rPr>
                        <a:t>Broder, 1997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62626"/>
                          </a:solidFill>
                        </a:rPr>
                        <a:t>Shingling and resemblance (Jaccard of shingle sets)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62626"/>
                          </a:solidFill>
                        </a:rPr>
                        <a:t>Basis of our token 3-gram shingles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62626"/>
                          </a:solidFill>
                        </a:rPr>
                        <a:t>Indyk &amp; Motwani, 1998</a:t>
                      </a:r>
                    </a:p>
                  </a:txBody>
                  <a:tcPr marL="73152" marR="73152" marT="27432" marB="27432" anchor="ctr">
                    <a:solidFill>
                      <a:srgbClr val="F7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62626"/>
                          </a:solidFill>
                        </a:rPr>
                        <a:t>Locality-sensitive hashing for similarity search</a:t>
                      </a:r>
                    </a:p>
                  </a:txBody>
                  <a:tcPr marL="73152" marR="73152" marT="27432" marB="27432" anchor="ctr">
                    <a:solidFill>
                      <a:srgbClr val="F7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62626"/>
                          </a:solidFill>
                        </a:rPr>
                        <a:t>Basis of our LSH banding stage</a:t>
                      </a:r>
                    </a:p>
                  </a:txBody>
                  <a:tcPr marL="73152" marR="73152" marT="27432" marB="27432" anchor="ctr">
                    <a:solidFill>
                      <a:srgbClr val="F7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62626"/>
                          </a:solidFill>
                        </a:rPr>
                        <a:t>Charikar, 2002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62626"/>
                          </a:solidFill>
                        </a:rPr>
                        <a:t>SimHash: short fingerprints for similarity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62626"/>
                          </a:solidFill>
                        </a:rPr>
                        <a:t>Possible alternative to MinHash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62626"/>
                          </a:solidFill>
                        </a:rPr>
                        <a:t>Henzinger, 2006</a:t>
                      </a:r>
                    </a:p>
                  </a:txBody>
                  <a:tcPr marL="73152" marR="73152" marT="27432" marB="27432" anchor="ctr">
                    <a:solidFill>
                      <a:srgbClr val="F7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62626"/>
                          </a:solidFill>
                        </a:rPr>
                        <a:t>Compared shingling and SimHash on 1.6B web pages</a:t>
                      </a:r>
                    </a:p>
                  </a:txBody>
                  <a:tcPr marL="73152" marR="73152" marT="27432" marB="27432" anchor="ctr">
                    <a:solidFill>
                      <a:srgbClr val="F7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62626"/>
                          </a:solidFill>
                        </a:rPr>
                        <a:t>Supports a filter-then-verify design</a:t>
                      </a:r>
                    </a:p>
                  </a:txBody>
                  <a:tcPr marL="73152" marR="73152" marT="27432" marB="27432" anchor="ctr">
                    <a:solidFill>
                      <a:srgbClr val="F7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62626"/>
                          </a:solidFill>
                        </a:rPr>
                        <a:t>Manku et al., 2007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62626"/>
                          </a:solidFill>
                        </a:rPr>
                        <a:t>64-bit SimHash for web-crawl near-duplicates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62626"/>
                          </a:solidFill>
                        </a:rPr>
                        <a:t>Shows need at production scale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62626"/>
                          </a:solidFill>
                        </a:rPr>
                        <a:t>Rajaraman &amp; Ullman (MMDS)</a:t>
                      </a:r>
                    </a:p>
                  </a:txBody>
                  <a:tcPr marL="73152" marR="73152" marT="27432" marB="27432" anchor="ctr">
                    <a:solidFill>
                      <a:srgbClr val="F7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62626"/>
                          </a:solidFill>
                        </a:rPr>
                        <a:t>Pipeline: shingling → MinHash → LSH banding</a:t>
                      </a:r>
                    </a:p>
                  </a:txBody>
                  <a:tcPr marL="73152" marR="73152" marT="27432" marB="27432" anchor="ctr">
                    <a:solidFill>
                      <a:srgbClr val="F7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62626"/>
                          </a:solidFill>
                        </a:rPr>
                        <a:t>Our implementation follows this chapter</a:t>
                      </a:r>
                    </a:p>
                  </a:txBody>
                  <a:tcPr marL="73152" marR="73152" marT="27432" marB="27432" anchor="ctr">
                    <a:solidFill>
                      <a:srgbClr val="F7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5577840"/>
            <a:ext cx="1088136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95959"/>
                </a:solidFill>
              </a:rPr>
              <a:t>Also reviewed: Quora Question Pairs dataset, Karp–Rabin polynomial fingerprints, datasketch library (full list under References).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2689860" y="221673"/>
            <a:ext cx="6812280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89860" y="221673"/>
            <a:ext cx="68122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Problem Statement &amp; Objectives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97280"/>
            <a:ext cx="10881360" cy="1097280"/>
          </a:xfrm>
          <a:prstGeom prst="roundRect">
            <a:avLst>
              <a:gd name="adj" fmla="val 6000"/>
            </a:avLst>
          </a:prstGeom>
          <a:solidFill>
            <a:srgbClr val="F7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143000"/>
            <a:ext cx="10515600" cy="10058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1">
                <a:solidFill>
                  <a:srgbClr val="262626"/>
                </a:solidFill>
              </a:rPr>
              <a:t>Problem statement:</a:t>
            </a:r>
            <a:r>
              <a:rPr sz="1900" b="0">
                <a:solidFill>
                  <a:srgbClr val="262626"/>
                </a:solidFill>
              </a:rPr>
              <a:t> Efficiently detect near-duplicate questions in a large collection without comparing every pair, while keeping results accurate.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95959"/>
                </a:solidFill>
              </a:rPr>
              <a:t>Questions that mean the same thing are worded differently, so exact matching fails, and brute force grows quadratically.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54864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C00000"/>
                </a:solidFill>
              </a:rPr>
              <a:t>Objectives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788920"/>
            <a:ext cx="53492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77240" y="3054096"/>
            <a:ext cx="384048" cy="384048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834639"/>
            <a:ext cx="4617720" cy="8229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62626"/>
                </a:solidFill>
              </a:rPr>
              <a:t>Represent questions as token k-gram shingles after cleaning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2788920"/>
            <a:ext cx="53492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6309360" y="3054096"/>
            <a:ext cx="384048" cy="384048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2280" y="2834639"/>
            <a:ext cx="4617720" cy="8229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62626"/>
                </a:solidFill>
              </a:rPr>
              <a:t>Build 60-value MinHash signatures with double polynomial hashing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886200"/>
            <a:ext cx="53492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777240" y="4151376"/>
            <a:ext cx="384048" cy="384048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931920"/>
            <a:ext cx="4617720" cy="8229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62626"/>
                </a:solidFill>
              </a:rPr>
              <a:t>Use LSH so only similar-looking questions are compared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886200"/>
            <a:ext cx="53492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6309360" y="4151376"/>
            <a:ext cx="384048" cy="384048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2280" y="3931920"/>
            <a:ext cx="4617720" cy="8229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62626"/>
                </a:solidFill>
              </a:rPr>
              <a:t>Verify candidates exactly (longest common substring + Jaccard)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983479"/>
            <a:ext cx="53492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777240" y="5248655"/>
            <a:ext cx="384048" cy="384048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5029199"/>
            <a:ext cx="4617720" cy="8229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62626"/>
                </a:solidFill>
              </a:rPr>
              <a:t>Build a web app: compare, upload dataset, download results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983479"/>
            <a:ext cx="53492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6309360" y="5248655"/>
            <a:ext cx="384048" cy="384048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12280" y="5029199"/>
            <a:ext cx="4617720" cy="8229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62626"/>
                </a:solidFill>
              </a:rPr>
              <a:t>Evaluate with precision, recall and F1 on labelled pairs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672840" y="221673"/>
            <a:ext cx="4846320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3672840" y="221673"/>
            <a:ext cx="48463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solidFill>
                  <a:schemeClr val="bg1"/>
                </a:solidFill>
              </a:rPr>
              <a:t>Proposed Methodology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80160"/>
            <a:ext cx="1691640" cy="2651760"/>
          </a:xfrm>
          <a:prstGeom prst="roundRect">
            <a:avLst>
              <a:gd name="adj" fmla="val 6000"/>
            </a:avLst>
          </a:prstGeom>
          <a:solidFill>
            <a:srgbClr val="F7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43000" y="1417320"/>
            <a:ext cx="384048" cy="384048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60020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C00000"/>
                </a:solidFill>
              </a:rPr>
              <a:t>Preprocess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423160"/>
            <a:ext cx="1508760" cy="1417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0">
                <a:solidFill>
                  <a:srgbClr val="262626"/>
                </a:solidFill>
              </a:rPr>
              <a:t>lowercase, remove symbols and stop words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212848" y="2606040"/>
            <a:ext cx="164591" cy="0"/>
          </a:xfrm>
          <a:prstGeom prst="line">
            <a:avLst/>
          </a:prstGeom>
          <a:ln w="28575">
            <a:solidFill>
              <a:srgbClr val="C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395728" y="1280160"/>
            <a:ext cx="1691640" cy="2651760"/>
          </a:xfrm>
          <a:prstGeom prst="roundRect">
            <a:avLst>
              <a:gd name="adj" fmla="val 6000"/>
            </a:avLst>
          </a:prstGeom>
          <a:solidFill>
            <a:srgbClr val="F7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3035808" y="1417320"/>
            <a:ext cx="384048" cy="384048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41448" y="1920240"/>
            <a:ext cx="160020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C00000"/>
                </a:solidFill>
              </a:rPr>
              <a:t>Shingle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87168" y="2423160"/>
            <a:ext cx="1508760" cy="1417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0">
                <a:solidFill>
                  <a:srgbClr val="262626"/>
                </a:solidFill>
              </a:rPr>
              <a:t>overlapping token 3-grams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105656" y="2606040"/>
            <a:ext cx="164592" cy="0"/>
          </a:xfrm>
          <a:prstGeom prst="line">
            <a:avLst/>
          </a:prstGeom>
          <a:ln w="28575">
            <a:solidFill>
              <a:srgbClr val="C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288536" y="1280160"/>
            <a:ext cx="1691640" cy="2651760"/>
          </a:xfrm>
          <a:prstGeom prst="roundRect">
            <a:avLst>
              <a:gd name="adj" fmla="val 6000"/>
            </a:avLst>
          </a:prstGeom>
          <a:solidFill>
            <a:srgbClr val="F7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928616" y="1417320"/>
            <a:ext cx="384048" cy="384048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34255" y="1920240"/>
            <a:ext cx="160020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C00000"/>
                </a:solidFill>
              </a:rPr>
              <a:t>Double hash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79975" y="2423160"/>
            <a:ext cx="1508760" cy="1417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0">
                <a:solidFill>
                  <a:srgbClr val="262626"/>
                </a:solidFill>
              </a:rPr>
              <a:t>two polynomial hashes per shingle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98464" y="2606040"/>
            <a:ext cx="164591" cy="0"/>
          </a:xfrm>
          <a:prstGeom prst="line">
            <a:avLst/>
          </a:prstGeom>
          <a:ln w="28575">
            <a:solidFill>
              <a:srgbClr val="C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181343" y="1280160"/>
            <a:ext cx="1691640" cy="2651760"/>
          </a:xfrm>
          <a:prstGeom prst="roundRect">
            <a:avLst>
              <a:gd name="adj" fmla="val 6000"/>
            </a:avLst>
          </a:prstGeom>
          <a:solidFill>
            <a:srgbClr val="F7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821423" y="1417320"/>
            <a:ext cx="384048" cy="384048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27063" y="1920240"/>
            <a:ext cx="160020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C00000"/>
                </a:solidFill>
              </a:rPr>
              <a:t>MinHash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72783" y="2423160"/>
            <a:ext cx="1508760" cy="1417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0">
                <a:solidFill>
                  <a:srgbClr val="262626"/>
                </a:solidFill>
              </a:rPr>
              <a:t>60-value signature per question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891271" y="2606040"/>
            <a:ext cx="164592" cy="0"/>
          </a:xfrm>
          <a:prstGeom prst="line">
            <a:avLst/>
          </a:prstGeom>
          <a:ln w="28575">
            <a:solidFill>
              <a:srgbClr val="C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074152" y="1280160"/>
            <a:ext cx="1691640" cy="2651760"/>
          </a:xfrm>
          <a:prstGeom prst="roundRect">
            <a:avLst>
              <a:gd name="adj" fmla="val 6000"/>
            </a:avLst>
          </a:prstGeom>
          <a:solidFill>
            <a:srgbClr val="F7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8714232" y="1417320"/>
            <a:ext cx="384048" cy="384048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19872" y="1920240"/>
            <a:ext cx="160020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C00000"/>
                </a:solidFill>
              </a:rPr>
              <a:t>LSH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65592" y="2423160"/>
            <a:ext cx="1508760" cy="1417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0">
                <a:solidFill>
                  <a:srgbClr val="262626"/>
                </a:solidFill>
              </a:rPr>
              <a:t>bucket signature bands → candidates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784080" y="2606040"/>
            <a:ext cx="164592" cy="0"/>
          </a:xfrm>
          <a:prstGeom prst="line">
            <a:avLst/>
          </a:prstGeom>
          <a:ln w="28575">
            <a:solidFill>
              <a:srgbClr val="C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9966960" y="1280160"/>
            <a:ext cx="1691640" cy="2651760"/>
          </a:xfrm>
          <a:prstGeom prst="roundRect">
            <a:avLst>
              <a:gd name="adj" fmla="val 6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10607040" y="1417320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C00000"/>
                </a:solidFill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12680" y="1920240"/>
            <a:ext cx="160020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</a:rPr>
              <a:t>Verify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0" y="2423160"/>
            <a:ext cx="1508760" cy="1417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</a:rPr>
              <a:t>LCS + Jaccard decision rule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" y="4297680"/>
            <a:ext cx="1115568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31520" y="4389120"/>
            <a:ext cx="10698480" cy="1554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262626"/>
                </a:solidFill>
              </a:rPr>
              <a:t>Filter, then verify.</a:t>
            </a:r>
            <a:r>
              <a:rPr sz="1800" b="0">
                <a:solidFill>
                  <a:srgbClr val="262626"/>
                </a:solidFill>
              </a:rPr>
              <a:t> Steps 1–5 are cheap and reduce n(n−1)/2 pairs to a small candidate set; only those pairs reach the exact O(m·n) check.</a:t>
            </a:r>
          </a:p>
          <a:p>
            <a:pPr algn="l">
              <a:spcAft>
                <a:spcPts val="400"/>
              </a:spcAft>
            </a:pPr>
            <a:r>
              <a:rPr sz="1800" b="1">
                <a:solidFill>
                  <a:srgbClr val="262626"/>
                </a:solidFill>
              </a:rPr>
              <a:t>Decision rule:</a:t>
            </a:r>
            <a:r>
              <a:rPr sz="1800" b="0">
                <a:solidFill>
                  <a:srgbClr val="262626"/>
                </a:solidFill>
              </a:rPr>
              <a:t> duplicate if LCS ≥ 3 tokens AND (coverage ≥ 0.50 OR Jaccard ≥ 0.50). Thresholds are adjustable in the web interface.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848" y="221673"/>
            <a:ext cx="4718304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3736848" y="221673"/>
            <a:ext cx="47183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solidFill>
                  <a:schemeClr val="bg1"/>
                </a:solidFill>
              </a:rPr>
              <a:t>System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3383280" cy="1828800"/>
          </a:xfrm>
          <a:prstGeom prst="roundRect">
            <a:avLst>
              <a:gd name="adj" fmla="val 6000"/>
            </a:avLst>
          </a:prstGeom>
          <a:solidFill>
            <a:srgbClr val="F7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61872"/>
            <a:ext cx="320040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C00000"/>
                </a:solidFill>
              </a:rPr>
              <a:t>Browser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37360"/>
            <a:ext cx="310896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262626"/>
                </a:solidFill>
              </a:rPr>
              <a:t>index.html, style.css, script.js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94560"/>
            <a:ext cx="3108960" cy="7772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0">
                <a:solidFill>
                  <a:srgbClr val="262626"/>
                </a:solidFill>
              </a:rPr>
              <a:t>Compare form, dataset upload, results table, metrics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950208" y="2103120"/>
            <a:ext cx="457199" cy="0"/>
          </a:xfrm>
          <a:prstGeom prst="line">
            <a:avLst/>
          </a:prstGeom>
          <a:ln w="28575">
            <a:solidFill>
              <a:srgbClr val="C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434840" y="1188720"/>
            <a:ext cx="3383280" cy="1828800"/>
          </a:xfrm>
          <a:prstGeom prst="roundRect">
            <a:avLst>
              <a:gd name="adj" fmla="val 6000"/>
            </a:avLst>
          </a:prstGeom>
          <a:solidFill>
            <a:srgbClr val="F7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26279" y="1261872"/>
            <a:ext cx="320040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C00000"/>
                </a:solidFill>
              </a:rPr>
              <a:t>Flask API  (app.py)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737360"/>
            <a:ext cx="310896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262626"/>
                </a:solidFill>
              </a:rPr>
              <a:t>/api/compare   /api/upload   /download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194560"/>
            <a:ext cx="3108960" cy="7772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0">
                <a:solidFill>
                  <a:srgbClr val="262626"/>
                </a:solidFill>
              </a:rPr>
              <a:t>Validates input, runs the finder, returns JSON / CSV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836408" y="2103120"/>
            <a:ext cx="457200" cy="0"/>
          </a:xfrm>
          <a:prstGeom prst="line">
            <a:avLst/>
          </a:prstGeom>
          <a:ln w="28575">
            <a:solidFill>
              <a:srgbClr val="C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321040" y="1188720"/>
            <a:ext cx="3383280" cy="1828800"/>
          </a:xfrm>
          <a:prstGeom prst="roundRect">
            <a:avLst>
              <a:gd name="adj" fmla="val 6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12480" y="1261872"/>
            <a:ext cx="320040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</a:rPr>
              <a:t>Algorithm engine  (main.py)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1737360"/>
            <a:ext cx="310896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</a:rPr>
              <a:t>NearDuplicateFinder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2194560"/>
            <a:ext cx="3108960" cy="7772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0">
                <a:solidFill>
                  <a:srgbClr val="FFFFFF"/>
                </a:solidFill>
              </a:rPr>
              <a:t>Preprocess → Shingle → Hash → MinHash → LSH → Verify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154680"/>
            <a:ext cx="109728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C00000"/>
                </a:solidFill>
              </a:rPr>
              <a:t>Inside the engine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611880"/>
            <a:ext cx="141732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3611880"/>
            <a:ext cx="1417320" cy="10515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262626"/>
                </a:solidFill>
              </a:rPr>
              <a:t>Questions</a:t>
            </a:r>
          </a:p>
          <a:p>
            <a:pPr algn="ctr">
              <a:spcAft>
                <a:spcPts val="0"/>
              </a:spcAft>
            </a:pPr>
            <a:r>
              <a:rPr sz="1500" b="1">
                <a:solidFill>
                  <a:srgbClr val="262626"/>
                </a:solidFill>
              </a:rPr>
              <a:t>{id: text}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975104" y="4133087"/>
            <a:ext cx="182880" cy="0"/>
          </a:xfrm>
          <a:prstGeom prst="line">
            <a:avLst/>
          </a:prstGeom>
          <a:ln w="28575">
            <a:solidFill>
              <a:srgbClr val="C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2167128" y="3611880"/>
            <a:ext cx="141732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167128" y="3611880"/>
            <a:ext cx="1417320" cy="10515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262626"/>
                </a:solidFill>
              </a:rPr>
              <a:t>Tokens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593592" y="4133087"/>
            <a:ext cx="182880" cy="0"/>
          </a:xfrm>
          <a:prstGeom prst="line">
            <a:avLst/>
          </a:prstGeom>
          <a:ln w="28575">
            <a:solidFill>
              <a:srgbClr val="C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3785615" y="3611880"/>
            <a:ext cx="141732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785615" y="3611880"/>
            <a:ext cx="1417320" cy="10515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262626"/>
                </a:solidFill>
              </a:rPr>
              <a:t>Shingles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212079" y="4133087"/>
            <a:ext cx="182880" cy="0"/>
          </a:xfrm>
          <a:prstGeom prst="line">
            <a:avLst/>
          </a:prstGeom>
          <a:ln w="28575">
            <a:solidFill>
              <a:srgbClr val="C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5404104" y="3611880"/>
            <a:ext cx="141732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404104" y="3611880"/>
            <a:ext cx="1417320" cy="10515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262626"/>
                </a:solidFill>
              </a:rPr>
              <a:t>Signatures</a:t>
            </a:r>
          </a:p>
          <a:p>
            <a:pPr algn="ctr">
              <a:spcAft>
                <a:spcPts val="0"/>
              </a:spcAft>
            </a:pPr>
            <a:r>
              <a:rPr sz="1500" b="1">
                <a:solidFill>
                  <a:srgbClr val="262626"/>
                </a:solidFill>
              </a:rPr>
              <a:t>(60 values)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830568" y="4133087"/>
            <a:ext cx="182880" cy="0"/>
          </a:xfrm>
          <a:prstGeom prst="line">
            <a:avLst/>
          </a:prstGeom>
          <a:ln w="28575">
            <a:solidFill>
              <a:srgbClr val="C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022592" y="3611880"/>
            <a:ext cx="141732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022592" y="3611880"/>
            <a:ext cx="1417320" cy="10515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262626"/>
                </a:solidFill>
              </a:rPr>
              <a:t>LSH buckets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449056" y="4133087"/>
            <a:ext cx="182880" cy="0"/>
          </a:xfrm>
          <a:prstGeom prst="line">
            <a:avLst/>
          </a:prstGeom>
          <a:ln w="28575">
            <a:solidFill>
              <a:srgbClr val="C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641080" y="3611880"/>
            <a:ext cx="141732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641080" y="3611880"/>
            <a:ext cx="1417320" cy="10515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262626"/>
                </a:solidFill>
              </a:rPr>
              <a:t>Candidates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10067544" y="4133087"/>
            <a:ext cx="182880" cy="0"/>
          </a:xfrm>
          <a:prstGeom prst="line">
            <a:avLst/>
          </a:prstGeom>
          <a:ln w="28575">
            <a:solidFill>
              <a:srgbClr val="C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10259568" y="3611880"/>
            <a:ext cx="141732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259568" y="3611880"/>
            <a:ext cx="1417320" cy="10515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262626"/>
                </a:solidFill>
              </a:rPr>
              <a:t>Verified</a:t>
            </a:r>
          </a:p>
          <a:p>
            <a:pPr algn="ctr">
              <a:spcAft>
                <a:spcPts val="0"/>
              </a:spcAft>
            </a:pPr>
            <a:r>
              <a:rPr sz="1500" b="1">
                <a:solidFill>
                  <a:srgbClr val="262626"/>
                </a:solidFill>
              </a:rPr>
              <a:t>duplicates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4983480"/>
            <a:ext cx="11064240" cy="1188720"/>
          </a:xfrm>
          <a:prstGeom prst="roundRect">
            <a:avLst>
              <a:gd name="adj" fmla="val 6000"/>
            </a:avLst>
          </a:prstGeom>
          <a:solidFill>
            <a:srgbClr val="F7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31520" y="5029200"/>
            <a:ext cx="10698480" cy="10972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262626"/>
                </a:solidFill>
              </a:rPr>
              <a:t>Data flow:</a:t>
            </a:r>
            <a:r>
              <a:rPr sz="1700" b="0">
                <a:solidFill>
                  <a:srgbClr val="262626"/>
                </a:solidFill>
              </a:rPr>
              <a:t> the browser sends a question pair or a CSV/Excel file → Flask loads it with pandas → NearDuplicateFinder fits and runs → results return as JSON for the page and are saved as CSV files for download.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2493264" y="221673"/>
            <a:ext cx="720547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493264" y="221673"/>
            <a:ext cx="72054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Hardware &amp; Software Requirements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188720"/>
            <a:ext cx="5303520" cy="4754880"/>
          </a:xfrm>
          <a:prstGeom prst="roundRect">
            <a:avLst>
              <a:gd name="adj" fmla="val 6000"/>
            </a:avLst>
          </a:prstGeom>
          <a:solidFill>
            <a:srgbClr val="F7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325880"/>
            <a:ext cx="4754880" cy="502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C00000"/>
                </a:solidFill>
              </a:rPr>
              <a:t>Hardware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4754880" cy="3840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285750" indent="-285750" algn="l">
              <a:spcAft>
                <a:spcPts val="1200"/>
              </a:spcAft>
              <a:buFont typeface="Arial"/>
              <a:buChar char="•"/>
            </a:pPr>
            <a:r>
              <a:rPr sz="1900" b="0">
                <a:solidFill>
                  <a:srgbClr val="262626"/>
                </a:solidFill>
              </a:rPr>
              <a:t>Processor: Intel Core i3 / Ryzen 3 or better (2 GHz+)</a:t>
            </a:r>
          </a:p>
          <a:p>
            <a:pPr marL="285750" indent="-285750" algn="l">
              <a:spcAft>
                <a:spcPts val="1200"/>
              </a:spcAft>
              <a:buFont typeface="Arial"/>
              <a:buChar char="•"/>
            </a:pPr>
            <a:r>
              <a:rPr sz="1900" b="0">
                <a:solidFill>
                  <a:srgbClr val="262626"/>
                </a:solidFill>
              </a:rPr>
              <a:t>RAM: 4 GB minimum, 8 GB recommended for large datasets</a:t>
            </a:r>
          </a:p>
          <a:p>
            <a:pPr marL="285750" indent="-285750" algn="l">
              <a:spcAft>
                <a:spcPts val="1200"/>
              </a:spcAft>
              <a:buFont typeface="Arial"/>
              <a:buChar char="•"/>
            </a:pPr>
            <a:r>
              <a:rPr sz="1900" b="0">
                <a:solidFill>
                  <a:srgbClr val="262626"/>
                </a:solidFill>
              </a:rPr>
              <a:t>Storage: 500 MB free space</a:t>
            </a:r>
          </a:p>
          <a:p>
            <a:pPr marL="285750" indent="-285750" algn="l">
              <a:spcAft>
                <a:spcPts val="1200"/>
              </a:spcAft>
              <a:buFont typeface="Arial"/>
              <a:buChar char="•"/>
            </a:pPr>
            <a:r>
              <a:rPr sz="1900" b="0">
                <a:solidFill>
                  <a:srgbClr val="262626"/>
                </a:solidFill>
              </a:rPr>
              <a:t>Standard monitor, keyboard and mouse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188720"/>
            <a:ext cx="5303520" cy="4754880"/>
          </a:xfrm>
          <a:prstGeom prst="roundRect">
            <a:avLst>
              <a:gd name="adj" fmla="val 6000"/>
            </a:avLst>
          </a:prstGeom>
          <a:solidFill>
            <a:srgbClr val="F7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0" y="1325880"/>
            <a:ext cx="4754880" cy="502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C00000"/>
                </a:solidFill>
              </a:rPr>
              <a:t>Software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011680"/>
            <a:ext cx="4754880" cy="3840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285750" indent="-285750" algn="l">
              <a:spcAft>
                <a:spcPts val="1200"/>
              </a:spcAft>
              <a:buFont typeface="Arial"/>
              <a:buChar char="•"/>
            </a:pPr>
            <a:r>
              <a:rPr sz="1900" b="0">
                <a:solidFill>
                  <a:srgbClr val="262626"/>
                </a:solidFill>
              </a:rPr>
              <a:t>OS: Windows 10/11 (Linux/macOS also work)</a:t>
            </a:r>
          </a:p>
          <a:p>
            <a:pPr marL="285750" indent="-285750" algn="l">
              <a:spcAft>
                <a:spcPts val="1200"/>
              </a:spcAft>
              <a:buFont typeface="Arial"/>
              <a:buChar char="•"/>
            </a:pPr>
            <a:r>
              <a:rPr sz="1900" b="0">
                <a:solidFill>
                  <a:srgbClr val="262626"/>
                </a:solidFill>
              </a:rPr>
              <a:t>Python 3.9 or later</a:t>
            </a:r>
          </a:p>
          <a:p>
            <a:pPr marL="285750" indent="-285750" algn="l">
              <a:spcAft>
                <a:spcPts val="1200"/>
              </a:spcAft>
              <a:buFont typeface="Arial"/>
              <a:buChar char="•"/>
            </a:pPr>
            <a:r>
              <a:rPr sz="1900" b="0">
                <a:solidFill>
                  <a:srgbClr val="262626"/>
                </a:solidFill>
              </a:rPr>
              <a:t>Flask, pandas, openpyxl, Werkzeug</a:t>
            </a:r>
          </a:p>
          <a:p>
            <a:pPr marL="285750" indent="-285750" algn="l">
              <a:spcAft>
                <a:spcPts val="1200"/>
              </a:spcAft>
              <a:buFont typeface="Arial"/>
              <a:buChar char="•"/>
            </a:pPr>
            <a:r>
              <a:rPr sz="1900" b="0">
                <a:solidFill>
                  <a:srgbClr val="262626"/>
                </a:solidFill>
              </a:rPr>
              <a:t>HTML5, CSS3, JavaScript (fetch API)</a:t>
            </a:r>
          </a:p>
          <a:p>
            <a:pPr marL="285750" indent="-285750" algn="l">
              <a:spcAft>
                <a:spcPts val="1200"/>
              </a:spcAft>
              <a:buFont typeface="Arial"/>
              <a:buChar char="•"/>
            </a:pPr>
            <a:r>
              <a:rPr sz="1900" b="0">
                <a:solidFill>
                  <a:srgbClr val="262626"/>
                </a:solidFill>
              </a:rPr>
              <a:t>VS Code, PowerShell, Chrome or Edge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672840" y="221673"/>
            <a:ext cx="4846320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3672840" y="221673"/>
            <a:ext cx="48463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solidFill>
                  <a:schemeClr val="bg1"/>
                </a:solidFill>
              </a:rPr>
              <a:t>Final Implementation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188720"/>
            <a:ext cx="4846320" cy="4846320"/>
          </a:xfrm>
          <a:prstGeom prst="roundRect">
            <a:avLst>
              <a:gd name="adj" fmla="val 3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448056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C00000"/>
                </a:solidFill>
              </a:rPr>
              <a:t>Project 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4480560" cy="41148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262626"/>
                </a:solidFill>
                <a:latin typeface="Courier New"/>
              </a:rPr>
              <a:t>near_duplicate_finder_web/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262626"/>
                </a:solidFill>
                <a:latin typeface="Courier New"/>
              </a:rPr>
              <a:t>├─ main.py       algorithm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262626"/>
                </a:solidFill>
                <a:latin typeface="Courier New"/>
              </a:rPr>
              <a:t>├─ app.py        Flask API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262626"/>
                </a:solidFill>
                <a:latin typeface="Courier New"/>
              </a:rPr>
              <a:t>├─ requirements.txt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262626"/>
                </a:solidFill>
                <a:latin typeface="Courier New"/>
              </a:rPr>
              <a:t>├─ templates/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262626"/>
                </a:solidFill>
                <a:latin typeface="Courier New"/>
              </a:rPr>
              <a:t>│   └─ index.html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262626"/>
                </a:solidFill>
                <a:latin typeface="Courier New"/>
              </a:rPr>
              <a:t>├─ static/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262626"/>
                </a:solidFill>
                <a:latin typeface="Courier New"/>
              </a:rPr>
              <a:t>│   ├─ style.css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262626"/>
                </a:solidFill>
                <a:latin typeface="Courier New"/>
              </a:rPr>
              <a:t>│   └─ script.js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262626"/>
                </a:solidFill>
                <a:latin typeface="Courier New"/>
              </a:rPr>
              <a:t>├─ uploads/      dataset files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262626"/>
                </a:solidFill>
                <a:latin typeface="Courier New"/>
              </a:rPr>
              <a:t>└─ results/      output CSVs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720" y="1188720"/>
            <a:ext cx="576072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C00000"/>
                </a:solidFill>
              </a:rPr>
              <a:t>Configuration used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760720" y="1645920"/>
          <a:ext cx="576072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 marL="73152" marR="73152" marT="27432" marB="27432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 marL="73152" marR="73152" marT="27432" marB="27432"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62626"/>
                          </a:solidFill>
                        </a:rPr>
                        <a:t>Shingle size k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62626"/>
                          </a:solidFill>
                        </a:rPr>
                        <a:t>3 tokens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62626"/>
                          </a:solidFill>
                        </a:rPr>
                        <a:t>MinHash values</a:t>
                      </a:r>
                    </a:p>
                  </a:txBody>
                  <a:tcPr marL="73152" marR="73152" marT="27432" marB="27432" anchor="ctr">
                    <a:solidFill>
                      <a:srgbClr val="F7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62626"/>
                          </a:solidFill>
                        </a:rPr>
                        <a:t>60</a:t>
                      </a:r>
                    </a:p>
                  </a:txBody>
                  <a:tcPr marL="73152" marR="73152" marT="27432" marB="27432" anchor="ctr">
                    <a:solidFill>
                      <a:srgbClr val="F7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62626"/>
                          </a:solidFill>
                        </a:rPr>
                        <a:t>LSH bands × rows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62626"/>
                          </a:solidFill>
                        </a:rPr>
                        <a:t>60 × 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62626"/>
                          </a:solidFill>
                        </a:rPr>
                        <a:t>Min common tokens</a:t>
                      </a:r>
                    </a:p>
                  </a:txBody>
                  <a:tcPr marL="73152" marR="73152" marT="27432" marB="27432" anchor="ctr">
                    <a:solidFill>
                      <a:srgbClr val="F7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62626"/>
                          </a:solidFill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7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62626"/>
                          </a:solidFill>
                        </a:rPr>
                        <a:t>Min Jaccard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62626"/>
                          </a:solidFill>
                        </a:rPr>
                        <a:t>0.50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760720" y="4114800"/>
            <a:ext cx="576072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C00000"/>
                </a:solidFill>
              </a:rPr>
              <a:t>Run 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720" y="4526280"/>
            <a:ext cx="5760720" cy="1508760"/>
          </a:xfrm>
          <a:prstGeom prst="roundRect">
            <a:avLst>
              <a:gd name="adj" fmla="val 3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852159" y="4599432"/>
            <a:ext cx="5577840" cy="136245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62626"/>
                </a:solidFill>
                <a:latin typeface="Courier New"/>
              </a:rPr>
              <a:t>python -m pip install -r requirements.txt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262626"/>
                </a:solidFill>
                <a:latin typeface="Courier New"/>
              </a:rPr>
              <a:t>python app.py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262626"/>
                </a:solidFill>
                <a:latin typeface="Courier New"/>
              </a:rPr>
              <a:t>→ open http://127.0.0.1:5000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848" y="221673"/>
            <a:ext cx="4718304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3736848" y="221673"/>
            <a:ext cx="47183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solidFill>
                  <a:schemeClr val="bg1"/>
                </a:solidFill>
              </a:rPr>
              <a:t>Modules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188720"/>
            <a:ext cx="3520440" cy="2240280"/>
          </a:xfrm>
          <a:prstGeom prst="roundRect">
            <a:avLst>
              <a:gd name="adj" fmla="val 6000"/>
            </a:avLst>
          </a:prstGeom>
          <a:solidFill>
            <a:srgbClr val="F7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22959" y="1353312"/>
            <a:ext cx="365760" cy="36576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325880"/>
            <a:ext cx="2743200" cy="4572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C00000"/>
                </a:solidFill>
              </a:rPr>
              <a:t>Preprocessing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1901952"/>
            <a:ext cx="3200400" cy="5943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95959"/>
                </a:solidFill>
                <a:latin typeface="Courier New"/>
              </a:rPr>
              <a:t>preprocess(), tokenize()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514600"/>
            <a:ext cx="3200400" cy="8686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62626"/>
                </a:solidFill>
              </a:rPr>
              <a:t>Lowercase, strip symbols, remove 40 stop words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188720"/>
            <a:ext cx="3520440" cy="2240280"/>
          </a:xfrm>
          <a:prstGeom prst="roundRect">
            <a:avLst>
              <a:gd name="adj" fmla="val 6000"/>
            </a:avLst>
          </a:prstGeom>
          <a:solidFill>
            <a:srgbClr val="F7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4572000" y="1353312"/>
            <a:ext cx="365760" cy="36576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1325880"/>
            <a:ext cx="2743200" cy="4572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C00000"/>
                </a:solidFill>
              </a:rPr>
              <a:t>Shingling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901952"/>
            <a:ext cx="3200400" cy="5943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95959"/>
                </a:solidFill>
                <a:latin typeface="Courier New"/>
              </a:rPr>
              <a:t>make_shingles()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514600"/>
            <a:ext cx="3200400" cy="8686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62626"/>
                </a:solidFill>
              </a:rPr>
              <a:t>Overlapping token k-grams (k = 3)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59" y="1188720"/>
            <a:ext cx="3520440" cy="2240280"/>
          </a:xfrm>
          <a:prstGeom prst="roundRect">
            <a:avLst>
              <a:gd name="adj" fmla="val 6000"/>
            </a:avLst>
          </a:prstGeom>
          <a:solidFill>
            <a:srgbClr val="F7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321039" y="1353312"/>
            <a:ext cx="365760" cy="36576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39" y="1325880"/>
            <a:ext cx="2743200" cy="4572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C00000"/>
                </a:solidFill>
              </a:rPr>
              <a:t>Double hashing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39" y="1901952"/>
            <a:ext cx="3200400" cy="5943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95959"/>
                </a:solidFill>
                <a:latin typeface="Courier New"/>
              </a:rPr>
              <a:t>polynomial_hash(), double_hash()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39" y="2514600"/>
            <a:ext cx="3200400" cy="8686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62626"/>
                </a:solidFill>
              </a:rPr>
              <a:t>Two polynomial hashes (different bases and primes)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657600"/>
            <a:ext cx="3520440" cy="2240280"/>
          </a:xfrm>
          <a:prstGeom prst="roundRect">
            <a:avLst>
              <a:gd name="adj" fmla="val 6000"/>
            </a:avLst>
          </a:prstGeom>
          <a:solidFill>
            <a:srgbClr val="F7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22959" y="3822191"/>
            <a:ext cx="365760" cy="36576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3794760"/>
            <a:ext cx="2743200" cy="4572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C00000"/>
                </a:solidFill>
              </a:rPr>
              <a:t>MinHash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59" y="4370832"/>
            <a:ext cx="3200400" cy="5943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95959"/>
                </a:solidFill>
                <a:latin typeface="Courier New"/>
              </a:rPr>
              <a:t>minhash_signature()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59" y="4983480"/>
            <a:ext cx="3200400" cy="8686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62626"/>
                </a:solidFill>
              </a:rPr>
              <a:t>60-value signature approximating Jaccard similarity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9120" y="3657600"/>
            <a:ext cx="3520440" cy="2240280"/>
          </a:xfrm>
          <a:prstGeom prst="roundRect">
            <a:avLst>
              <a:gd name="adj" fmla="val 6000"/>
            </a:avLst>
          </a:prstGeom>
          <a:solidFill>
            <a:srgbClr val="F7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4572000" y="3822191"/>
            <a:ext cx="365760" cy="36576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0" y="3794760"/>
            <a:ext cx="2743200" cy="4572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C00000"/>
                </a:solidFill>
              </a:rPr>
              <a:t>LSH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4370832"/>
            <a:ext cx="3200400" cy="5943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95959"/>
                </a:solidFill>
                <a:latin typeface="Courier New"/>
              </a:rPr>
              <a:t>lsh_candidates()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4983480"/>
            <a:ext cx="3200400" cy="8686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62626"/>
                </a:solidFill>
              </a:rPr>
              <a:t>Band buckets; shared bucket → candidate pair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38159" y="3657600"/>
            <a:ext cx="3520440" cy="2240280"/>
          </a:xfrm>
          <a:prstGeom prst="roundRect">
            <a:avLst>
              <a:gd name="adj" fmla="val 6000"/>
            </a:avLst>
          </a:prstGeom>
          <a:solidFill>
            <a:srgbClr val="F7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8321039" y="3822191"/>
            <a:ext cx="365760" cy="36576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39" y="3794760"/>
            <a:ext cx="2743200" cy="4572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C00000"/>
                </a:solidFill>
              </a:rPr>
              <a:t>Verification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39" y="4370832"/>
            <a:ext cx="3200400" cy="5943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95959"/>
                </a:solidFill>
                <a:latin typeface="Courier New"/>
              </a:rPr>
              <a:t>exact_verify(), longest_common_substring_length()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39" y="4983480"/>
            <a:ext cx="3200400" cy="8686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62626"/>
                </a:solidFill>
              </a:rPr>
              <a:t>DP longest common run + Jaccard decision rule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848" y="221673"/>
            <a:ext cx="4718304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3736848" y="221673"/>
            <a:ext cx="47183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solidFill>
                  <a:schemeClr val="bg1"/>
                </a:solidFill>
              </a:rPr>
              <a:t>Algorithm</a:t>
            </a:r>
          </a:p>
        </p:txBody>
      </p:sp>
      <p:sp>
        <p:nvSpPr>
          <p:cNvPr id="4" name="Oval 3"/>
          <p:cNvSpPr/>
          <p:nvPr/>
        </p:nvSpPr>
        <p:spPr>
          <a:xfrm>
            <a:off x="594360" y="1216152"/>
            <a:ext cx="365760" cy="36576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143000"/>
            <a:ext cx="6583680" cy="65836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62626"/>
                </a:solidFill>
              </a:rPr>
              <a:t>For each question: </a:t>
            </a:r>
            <a:r>
              <a:rPr sz="1700" b="1">
                <a:solidFill>
                  <a:srgbClr val="262626"/>
                </a:solidFill>
              </a:rPr>
              <a:t>tokenize</a:t>
            </a:r>
            <a:r>
              <a:rPr sz="1700" b="0">
                <a:solidFill>
                  <a:srgbClr val="262626"/>
                </a:solidFill>
              </a:rPr>
              <a:t> (lowercase, remove symbols and stop words).</a:t>
            </a:r>
          </a:p>
        </p:txBody>
      </p:sp>
      <p:sp>
        <p:nvSpPr>
          <p:cNvPr id="6" name="Oval 5"/>
          <p:cNvSpPr/>
          <p:nvPr/>
        </p:nvSpPr>
        <p:spPr>
          <a:xfrm>
            <a:off x="594360" y="1920240"/>
            <a:ext cx="365760" cy="36576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847088"/>
            <a:ext cx="6583680" cy="65836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62626"/>
                </a:solidFill>
              </a:rPr>
              <a:t>Build the </a:t>
            </a:r>
            <a:r>
              <a:rPr sz="1700" b="1">
                <a:solidFill>
                  <a:srgbClr val="262626"/>
                </a:solidFill>
              </a:rPr>
              <a:t>shingle set</a:t>
            </a:r>
            <a:r>
              <a:rPr sz="1700" b="0">
                <a:solidFill>
                  <a:srgbClr val="262626"/>
                </a:solidFill>
              </a:rPr>
              <a:t> of token 3-grams.</a:t>
            </a:r>
          </a:p>
        </p:txBody>
      </p:sp>
      <p:sp>
        <p:nvSpPr>
          <p:cNvPr id="8" name="Oval 7"/>
          <p:cNvSpPr/>
          <p:nvPr/>
        </p:nvSpPr>
        <p:spPr>
          <a:xfrm>
            <a:off x="594360" y="2624328"/>
            <a:ext cx="365760" cy="36576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551176"/>
            <a:ext cx="6583680" cy="65836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62626"/>
                </a:solidFill>
              </a:rPr>
              <a:t>Hash every shingle with </a:t>
            </a:r>
            <a:r>
              <a:rPr sz="1700" b="1">
                <a:solidFill>
                  <a:srgbClr val="262626"/>
                </a:solidFill>
              </a:rPr>
              <a:t>two polynomial hashes</a:t>
            </a:r>
            <a:r>
              <a:rPr sz="1700" b="0">
                <a:solidFill>
                  <a:srgbClr val="262626"/>
                </a:solidFill>
              </a:rPr>
              <a:t> (h1, h2).</a:t>
            </a:r>
          </a:p>
        </p:txBody>
      </p:sp>
      <p:sp>
        <p:nvSpPr>
          <p:cNvPr id="10" name="Oval 9"/>
          <p:cNvSpPr/>
          <p:nvPr/>
        </p:nvSpPr>
        <p:spPr>
          <a:xfrm>
            <a:off x="594360" y="3328416"/>
            <a:ext cx="365760" cy="36576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255264"/>
            <a:ext cx="6583680" cy="65836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62626"/>
                </a:solidFill>
              </a:rPr>
              <a:t>For i = 1…60: </a:t>
            </a:r>
            <a:r>
              <a:rPr sz="1700" b="1">
                <a:solidFill>
                  <a:srgbClr val="262626"/>
                </a:solidFill>
              </a:rPr>
              <a:t>gᵢ = (aᵢ·h1 + bᵢ·h2 + cᵢ) mod p</a:t>
            </a:r>
            <a:r>
              <a:rPr sz="1700" b="0">
                <a:solidFill>
                  <a:srgbClr val="262626"/>
                </a:solidFill>
              </a:rPr>
              <a:t>; keep the minimum → signature.</a:t>
            </a:r>
          </a:p>
        </p:txBody>
      </p:sp>
      <p:sp>
        <p:nvSpPr>
          <p:cNvPr id="12" name="Oval 11"/>
          <p:cNvSpPr/>
          <p:nvPr/>
        </p:nvSpPr>
        <p:spPr>
          <a:xfrm>
            <a:off x="594360" y="4032504"/>
            <a:ext cx="365760" cy="36576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959352"/>
            <a:ext cx="6583680" cy="65836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262626"/>
                </a:solidFill>
              </a:rPr>
              <a:t>LSH:</a:t>
            </a:r>
            <a:r>
              <a:rPr sz="1700" b="0">
                <a:solidFill>
                  <a:srgbClr val="262626"/>
                </a:solidFill>
              </a:rPr>
              <a:t> split the signature into bands; questions sharing a bucket form a candidate pair.</a:t>
            </a:r>
          </a:p>
        </p:txBody>
      </p:sp>
      <p:sp>
        <p:nvSpPr>
          <p:cNvPr id="14" name="Oval 13"/>
          <p:cNvSpPr/>
          <p:nvPr/>
        </p:nvSpPr>
        <p:spPr>
          <a:xfrm>
            <a:off x="594360" y="4736592"/>
            <a:ext cx="365760" cy="36576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663440"/>
            <a:ext cx="6583680" cy="65836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62626"/>
                </a:solidFill>
              </a:rPr>
              <a:t>For each candidate: compute </a:t>
            </a:r>
            <a:r>
              <a:rPr sz="1700" b="1">
                <a:solidFill>
                  <a:srgbClr val="262626"/>
                </a:solidFill>
              </a:rPr>
              <a:t>LCS</a:t>
            </a:r>
            <a:r>
              <a:rPr sz="1700" b="0">
                <a:solidFill>
                  <a:srgbClr val="262626"/>
                </a:solidFill>
              </a:rPr>
              <a:t> (DP) and </a:t>
            </a:r>
            <a:r>
              <a:rPr sz="1700" b="1">
                <a:solidFill>
                  <a:srgbClr val="262626"/>
                </a:solidFill>
              </a:rPr>
              <a:t>Jaccard</a:t>
            </a:r>
            <a:r>
              <a:rPr sz="1700" b="0">
                <a:solidFill>
                  <a:srgbClr val="262626"/>
                </a:solidFill>
              </a:rPr>
              <a:t>.</a:t>
            </a:r>
          </a:p>
        </p:txBody>
      </p:sp>
      <p:sp>
        <p:nvSpPr>
          <p:cNvPr id="16" name="Oval 15"/>
          <p:cNvSpPr/>
          <p:nvPr/>
        </p:nvSpPr>
        <p:spPr>
          <a:xfrm>
            <a:off x="594360" y="5440680"/>
            <a:ext cx="365760" cy="36576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367528"/>
            <a:ext cx="6583680" cy="65836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62626"/>
                </a:solidFill>
              </a:rPr>
              <a:t>Report duplicate if </a:t>
            </a:r>
            <a:r>
              <a:rPr sz="1700" b="1">
                <a:solidFill>
                  <a:srgbClr val="262626"/>
                </a:solidFill>
              </a:rPr>
              <a:t>LCS ≥ 3</a:t>
            </a:r>
            <a:r>
              <a:rPr sz="1700" b="0">
                <a:solidFill>
                  <a:srgbClr val="262626"/>
                </a:solidFill>
              </a:rPr>
              <a:t> and (</a:t>
            </a:r>
            <a:r>
              <a:rPr sz="1700" b="1">
                <a:solidFill>
                  <a:srgbClr val="262626"/>
                </a:solidFill>
              </a:rPr>
              <a:t>coverage ≥ 0.5</a:t>
            </a:r>
            <a:r>
              <a:rPr sz="1700" b="0">
                <a:solidFill>
                  <a:srgbClr val="262626"/>
                </a:solidFill>
              </a:rPr>
              <a:t> or </a:t>
            </a:r>
            <a:r>
              <a:rPr sz="1700" b="1">
                <a:solidFill>
                  <a:srgbClr val="262626"/>
                </a:solidFill>
              </a:rPr>
              <a:t>Jaccard ≥ 0.5</a:t>
            </a:r>
            <a:r>
              <a:rPr sz="1700" b="0">
                <a:solidFill>
                  <a:srgbClr val="262626"/>
                </a:solidFill>
              </a:rPr>
              <a:t>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1143000"/>
            <a:ext cx="3566160" cy="4937760"/>
          </a:xfrm>
          <a:prstGeom prst="roundRect">
            <a:avLst>
              <a:gd name="adj" fmla="val 6000"/>
            </a:avLst>
          </a:prstGeom>
          <a:solidFill>
            <a:srgbClr val="F7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0" y="1234440"/>
            <a:ext cx="320040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C00000"/>
                </a:solidFill>
              </a:rPr>
              <a:t>Time complexity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1737360"/>
            <a:ext cx="3246120" cy="42976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600" b="1">
                <a:solidFill>
                  <a:srgbClr val="262626"/>
                </a:solidFill>
              </a:rPr>
              <a:t>Tokenize / shingle:</a:t>
            </a:r>
            <a:r>
              <a:rPr sz="1600" b="0">
                <a:solidFill>
                  <a:srgbClr val="262626"/>
                </a:solidFill>
              </a:rPr>
              <a:t> O(L) per question</a:t>
            </a:r>
          </a:p>
          <a:p>
            <a:pPr algn="l">
              <a:spcAft>
                <a:spcPts val="900"/>
              </a:spcAft>
            </a:pPr>
            <a:r>
              <a:rPr sz="1600" b="1">
                <a:solidFill>
                  <a:srgbClr val="262626"/>
                </a:solidFill>
              </a:rPr>
              <a:t>Hash + MinHash:</a:t>
            </a:r>
            <a:r>
              <a:rPr sz="1600" b="0">
                <a:solidFill>
                  <a:srgbClr val="262626"/>
                </a:solidFill>
              </a:rPr>
              <a:t> O(s·h) per question</a:t>
            </a:r>
          </a:p>
          <a:p>
            <a:pPr algn="l">
              <a:spcAft>
                <a:spcPts val="900"/>
              </a:spcAft>
            </a:pPr>
            <a:r>
              <a:rPr sz="1600" b="1">
                <a:solidFill>
                  <a:srgbClr val="262626"/>
                </a:solidFill>
              </a:rPr>
              <a:t>LSH:</a:t>
            </a:r>
            <a:r>
              <a:rPr sz="1600" b="0">
                <a:solidFill>
                  <a:srgbClr val="262626"/>
                </a:solidFill>
              </a:rPr>
              <a:t> O(n·b) + pairs inside buckets</a:t>
            </a:r>
          </a:p>
          <a:p>
            <a:pPr algn="l">
              <a:spcAft>
                <a:spcPts val="900"/>
              </a:spcAft>
            </a:pPr>
            <a:r>
              <a:rPr sz="1600" b="1">
                <a:solidFill>
                  <a:srgbClr val="262626"/>
                </a:solidFill>
              </a:rPr>
              <a:t>Verify:</a:t>
            </a:r>
            <a:r>
              <a:rPr sz="1600" b="0">
                <a:solidFill>
                  <a:srgbClr val="262626"/>
                </a:solidFill>
              </a:rPr>
              <a:t> O(m·n) per candidate (O(n) space)</a:t>
            </a:r>
          </a:p>
          <a:p>
            <a:pPr algn="l">
              <a:spcAft>
                <a:spcPts val="900"/>
              </a:spcAft>
            </a:pPr>
            <a:r>
              <a:rPr sz="1600" b="1">
                <a:solidFill>
                  <a:srgbClr val="595959"/>
                </a:solidFill>
              </a:rPr>
              <a:t>Brute force:</a:t>
            </a:r>
            <a:r>
              <a:rPr sz="1600" b="0">
                <a:solidFill>
                  <a:srgbClr val="595959"/>
                </a:solidFill>
              </a:rPr>
              <a:t> O(N²·m·n) for N questions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2984754" y="221673"/>
            <a:ext cx="622249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984754" y="221673"/>
            <a:ext cx="62224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Code / Implementation (1/2)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97280"/>
            <a:ext cx="5394960" cy="5029200"/>
          </a:xfrm>
          <a:prstGeom prst="roundRect">
            <a:avLst>
              <a:gd name="adj" fmla="val 3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19" y="1170432"/>
            <a:ext cx="5212080" cy="488289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62626"/>
                </a:solidFill>
                <a:latin typeface="Courier New"/>
              </a:rPr>
              <a:t>def preprocess(text):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262626"/>
                </a:solidFill>
                <a:latin typeface="Courier New"/>
              </a:rPr>
              <a:t>    text = str(text).lower()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262626"/>
                </a:solidFill>
                <a:latin typeface="Courier New"/>
              </a:rPr>
              <a:t>    text = re.sub(r"[^a-z0-9\s]", " ", text)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262626"/>
                </a:solidFill>
                <a:latin typeface="Courier New"/>
              </a:rPr>
              <a:t>    tokens = [t for t in text.split()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262626"/>
                </a:solidFill>
                <a:latin typeface="Courier New"/>
              </a:rPr>
              <a:t>              if t not in STOP_WORDS]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262626"/>
                </a:solidFill>
                <a:latin typeface="Courier New"/>
              </a:rPr>
              <a:t>    return " ".join(tokens)</a:t>
            </a:r>
          </a:p>
          <a:p>
            <a:pPr algn="l">
              <a:spcAft>
                <a:spcPts val="0"/>
              </a:spcAft>
            </a:pPr>
            <a:endParaRPr sz="1300" b="0">
              <a:solidFill>
                <a:srgbClr val="262626"/>
              </a:solidFill>
              <a:latin typeface="Courier New"/>
            </a:endParaRP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262626"/>
                </a:solidFill>
                <a:latin typeface="Courier New"/>
              </a:rPr>
              <a:t>def make_shingles(tokens, k=3):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262626"/>
                </a:solidFill>
                <a:latin typeface="Courier New"/>
              </a:rPr>
              <a:t>    if len(tokens) &lt; k: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262626"/>
                </a:solidFill>
                <a:latin typeface="Courier New"/>
              </a:rPr>
              <a:t>        return ({" ".join(tokens)}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262626"/>
                </a:solidFill>
                <a:latin typeface="Courier New"/>
              </a:rPr>
              <a:t>                if tokens else set())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262626"/>
                </a:solidFill>
                <a:latin typeface="Courier New"/>
              </a:rPr>
              <a:t>    return {" ".join(tokens[i:i+k])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262626"/>
                </a:solidFill>
                <a:latin typeface="Courier New"/>
              </a:rPr>
              <a:t>            for i in range(len(tokens)-k+1)}</a:t>
            </a:r>
          </a:p>
          <a:p>
            <a:pPr algn="l">
              <a:spcAft>
                <a:spcPts val="0"/>
              </a:spcAft>
            </a:pPr>
            <a:endParaRPr sz="1300" b="0">
              <a:solidFill>
                <a:srgbClr val="262626"/>
              </a:solidFill>
              <a:latin typeface="Courier New"/>
            </a:endParaRP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262626"/>
                </a:solidFill>
                <a:latin typeface="Courier New"/>
              </a:rPr>
              <a:t>def polynomial_hash(text, base, mod):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262626"/>
                </a:solidFill>
                <a:latin typeface="Courier New"/>
              </a:rPr>
              <a:t>    h = 0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262626"/>
                </a:solidFill>
                <a:latin typeface="Courier New"/>
              </a:rPr>
              <a:t>    for ch in text: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262626"/>
                </a:solidFill>
                <a:latin typeface="Courier New"/>
              </a:rPr>
              <a:t>        h = (h * base + ord(ch)) % mod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262626"/>
                </a:solidFill>
                <a:latin typeface="Courier New"/>
              </a:rPr>
              <a:t>    return 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097280"/>
            <a:ext cx="5349240" cy="5029200"/>
          </a:xfrm>
          <a:prstGeom prst="roundRect">
            <a:avLst>
              <a:gd name="adj" fmla="val 3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309359" y="1170432"/>
            <a:ext cx="5166359" cy="488289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62626"/>
                </a:solidFill>
                <a:latin typeface="Courier New"/>
              </a:rPr>
              <a:t>def double_hash(shingle):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262626"/>
                </a:solidFill>
                <a:latin typeface="Courier New"/>
              </a:rPr>
              <a:t>    return (polynomial_hash(shingle, BASE1, MOD1),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262626"/>
                </a:solidFill>
                <a:latin typeface="Courier New"/>
              </a:rPr>
              <a:t>            polynomial_hash(shingle, BASE2, MOD2))</a:t>
            </a:r>
          </a:p>
          <a:p>
            <a:pPr algn="l">
              <a:spcAft>
                <a:spcPts val="0"/>
              </a:spcAft>
            </a:pPr>
            <a:endParaRPr sz="1300" b="0">
              <a:solidFill>
                <a:srgbClr val="262626"/>
              </a:solidFill>
              <a:latin typeface="Courier New"/>
            </a:endParaRP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262626"/>
                </a:solidFill>
                <a:latin typeface="Courier New"/>
              </a:rPr>
              <a:t>def minhash_signature(shingles, num_hashes=60):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262626"/>
                </a:solidFill>
                <a:latin typeface="Courier New"/>
              </a:rPr>
              <a:t>    signature = [MOD1 - 1] * num_hashes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262626"/>
                </a:solidFill>
                <a:latin typeface="Courier New"/>
              </a:rPr>
              <a:t>    for shingle in shingles: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262626"/>
                </a:solidFill>
                <a:latin typeface="Courier New"/>
              </a:rPr>
              <a:t>        h1, h2 = double_hash(shingle)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262626"/>
                </a:solidFill>
                <a:latin typeface="Courier New"/>
              </a:rPr>
              <a:t>        for i in range(num_hashes):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262626"/>
                </a:solidFill>
                <a:latin typeface="Courier New"/>
              </a:rPr>
              <a:t>            a = (i * 2 + 1) * 104729 + 17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262626"/>
                </a:solidFill>
                <a:latin typeface="Courier New"/>
              </a:rPr>
              <a:t>            b = (i * 3 + 1) * 130363 + 31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262626"/>
                </a:solidFill>
                <a:latin typeface="Courier New"/>
              </a:rPr>
              <a:t>            c = i * i + 97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262626"/>
                </a:solidFill>
                <a:latin typeface="Courier New"/>
              </a:rPr>
              <a:t>            v = (a * h1 + b * h2 + c) % MOD1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262626"/>
                </a:solidFill>
                <a:latin typeface="Courier New"/>
              </a:rPr>
              <a:t>            if v &lt; signature[i]: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262626"/>
                </a:solidFill>
                <a:latin typeface="Courier New"/>
              </a:rPr>
              <a:t>                signature[i] = v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262626"/>
                </a:solidFill>
                <a:latin typeface="Courier New"/>
              </a:rPr>
              <a:t>    return signature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2984754" y="221673"/>
            <a:ext cx="622249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984754" y="221673"/>
            <a:ext cx="62224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Code / Implementation (2/2)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97280"/>
            <a:ext cx="5394960" cy="5029200"/>
          </a:xfrm>
          <a:prstGeom prst="roundRect">
            <a:avLst>
              <a:gd name="adj" fmla="val 3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19" y="1170432"/>
            <a:ext cx="5212080" cy="488289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62626"/>
                </a:solidFill>
                <a:latin typeface="Courier New"/>
              </a:rPr>
              <a:t>def lsh_candidates(signatures, bands=60, rows=1):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262626"/>
                </a:solidFill>
                <a:latin typeface="Courier New"/>
              </a:rPr>
              <a:t>    buckets = defaultdict(list)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262626"/>
                </a:solidFill>
                <a:latin typeface="Courier New"/>
              </a:rPr>
              <a:t>    cands = set()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262626"/>
                </a:solidFill>
                <a:latin typeface="Courier New"/>
              </a:rPr>
              <a:t>    for qid, sig in signatures.items():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262626"/>
                </a:solidFill>
                <a:latin typeface="Courier New"/>
              </a:rPr>
              <a:t>        for band in range(bands):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262626"/>
                </a:solidFill>
                <a:latin typeface="Courier New"/>
              </a:rPr>
              <a:t>            s = band * rows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262626"/>
                </a:solidFill>
                <a:latin typeface="Courier New"/>
              </a:rPr>
              <a:t>            part = tuple(sig[s:s+rows])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262626"/>
                </a:solidFill>
                <a:latin typeface="Courier New"/>
              </a:rPr>
              <a:t>            buckets[(band, hash(part))].append(qid)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262626"/>
                </a:solidFill>
                <a:latin typeface="Courier New"/>
              </a:rPr>
              <a:t>    for ids in buckets.values():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262626"/>
                </a:solidFill>
                <a:latin typeface="Courier New"/>
              </a:rPr>
              <a:t>        for i in range(len(ids)):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262626"/>
                </a:solidFill>
                <a:latin typeface="Courier New"/>
              </a:rPr>
              <a:t>            for j in range(i + 1, len(ids)):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262626"/>
                </a:solidFill>
                <a:latin typeface="Courier New"/>
              </a:rPr>
              <a:t>                pair = (ids[i], ids[j])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262626"/>
                </a:solidFill>
                <a:latin typeface="Courier New"/>
              </a:rPr>
              <a:t>                cands.add(tuple(sorted(pair)))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262626"/>
                </a:solidFill>
                <a:latin typeface="Courier New"/>
              </a:rPr>
              <a:t>    return cands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097280"/>
            <a:ext cx="5349240" cy="5029200"/>
          </a:xfrm>
          <a:prstGeom prst="roundRect">
            <a:avLst>
              <a:gd name="adj" fmla="val 3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309359" y="1170432"/>
            <a:ext cx="5166359" cy="488289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62626"/>
                </a:solidFill>
                <a:latin typeface="Courier New"/>
              </a:rPr>
              <a:t>def longest_common_substring_length(a, b):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262626"/>
                </a:solidFill>
                <a:latin typeface="Courier New"/>
              </a:rPr>
              <a:t>    prev = [0] * (len(b) + 1)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262626"/>
                </a:solidFill>
                <a:latin typeface="Courier New"/>
              </a:rPr>
              <a:t>    best = 0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262626"/>
                </a:solidFill>
                <a:latin typeface="Courier New"/>
              </a:rPr>
              <a:t>    for x in a: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262626"/>
                </a:solidFill>
                <a:latin typeface="Courier New"/>
              </a:rPr>
              <a:t>        curr = [0] * (len(b) + 1)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262626"/>
                </a:solidFill>
                <a:latin typeface="Courier New"/>
              </a:rPr>
              <a:t>        for j, y in enumerate(b, start=1):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262626"/>
                </a:solidFill>
                <a:latin typeface="Courier New"/>
              </a:rPr>
              <a:t>            if x == y: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262626"/>
                </a:solidFill>
                <a:latin typeface="Courier New"/>
              </a:rPr>
              <a:t>                curr[j] = prev[j - 1] + 1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262626"/>
                </a:solidFill>
                <a:latin typeface="Courier New"/>
              </a:rPr>
              <a:t>                best = max(best, curr[j])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262626"/>
                </a:solidFill>
                <a:latin typeface="Courier New"/>
              </a:rPr>
              <a:t>        prev = curr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262626"/>
                </a:solidFill>
                <a:latin typeface="Courier New"/>
              </a:rPr>
              <a:t>    return best</a:t>
            </a:r>
          </a:p>
          <a:p>
            <a:pPr algn="l">
              <a:spcAft>
                <a:spcPts val="0"/>
              </a:spcAft>
            </a:pPr>
            <a:endParaRPr sz="1300" b="0">
              <a:solidFill>
                <a:srgbClr val="262626"/>
              </a:solidFill>
              <a:latin typeface="Courier New"/>
            </a:endParaRP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262626"/>
                </a:solidFill>
                <a:latin typeface="Courier New"/>
              </a:rPr>
              <a:t># duplicate if: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262626"/>
                </a:solidFill>
                <a:latin typeface="Courier New"/>
              </a:rPr>
              <a:t># lcs &gt;= 3 and (coverage &gt;= 0.5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262626"/>
                </a:solidFill>
                <a:latin typeface="Courier New"/>
              </a:rPr>
              <a:t>#                or jaccard &gt;= 0.5)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848" y="221673"/>
            <a:ext cx="4718304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3736848" y="221673"/>
            <a:ext cx="47183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solidFill>
                  <a:schemeClr val="bg1"/>
                </a:solidFill>
              </a:rPr>
              <a:t>Testing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097280"/>
          <a:ext cx="1088136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</a:rPr>
                        <a:t>Test case</a:t>
                      </a:r>
                    </a:p>
                  </a:txBody>
                  <a:tcPr marL="73152" marR="73152" marT="27432" marB="27432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LCS / Jaccard</a:t>
                      </a:r>
                    </a:p>
                  </a:txBody>
                  <a:tcPr marL="73152" marR="73152" marT="27432" marB="27432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Expected</a:t>
                      </a:r>
                    </a:p>
                  </a:txBody>
                  <a:tcPr marL="73152" marR="73152" marT="27432" marB="27432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Actual</a:t>
                      </a:r>
                    </a:p>
                  </a:txBody>
                  <a:tcPr marL="73152" marR="73152" marT="27432" marB="27432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marL="73152" marR="73152" marT="27432" marB="27432"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62626"/>
                          </a:solidFill>
                        </a:rPr>
                        <a:t>T1  Identical questions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62626"/>
                          </a:solidFill>
                        </a:rPr>
                        <a:t>5 / 1.00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62626"/>
                          </a:solidFill>
                        </a:rPr>
                        <a:t>Duplicate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62626"/>
                          </a:solidFill>
                        </a:rPr>
                        <a:t>Duplicate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2E7D32"/>
                          </a:solidFill>
                        </a:rPr>
                        <a:t>Pass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62626"/>
                          </a:solidFill>
                        </a:rPr>
                        <a:t>T2  Paraphrase (learn Python)</a:t>
                      </a:r>
                    </a:p>
                  </a:txBody>
                  <a:tcPr marL="73152" marR="73152" marT="27432" marB="27432" anchor="ctr">
                    <a:solidFill>
                      <a:srgbClr val="F7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62626"/>
                          </a:solidFill>
                        </a:rPr>
                        <a:t>3 / 0.38</a:t>
                      </a:r>
                    </a:p>
                  </a:txBody>
                  <a:tcPr marL="73152" marR="73152" marT="27432" marB="27432" anchor="ctr">
                    <a:solidFill>
                      <a:srgbClr val="F7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62626"/>
                          </a:solidFill>
                        </a:rPr>
                        <a:t>Duplicate</a:t>
                      </a:r>
                    </a:p>
                  </a:txBody>
                  <a:tcPr marL="73152" marR="73152" marT="27432" marB="27432" anchor="ctr">
                    <a:solidFill>
                      <a:srgbClr val="F7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62626"/>
                          </a:solidFill>
                        </a:rPr>
                        <a:t>Duplicate</a:t>
                      </a:r>
                    </a:p>
                  </a:txBody>
                  <a:tcPr marL="73152" marR="73152" marT="27432" marB="27432" anchor="ctr">
                    <a:solidFill>
                      <a:srgbClr val="F7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2E7D32"/>
                          </a:solidFill>
                        </a:rPr>
                        <a:t>Pass</a:t>
                      </a:r>
                    </a:p>
                  </a:txBody>
                  <a:tcPr marL="73152" marR="73152" marT="27432" marB="27432" anchor="ctr">
                    <a:solidFill>
                      <a:srgbClr val="F7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62626"/>
                          </a:solidFill>
                        </a:rPr>
                        <a:t>T3  Unrelated topics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62626"/>
                          </a:solidFill>
                        </a:rPr>
                        <a:t>1 / 0.10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62626"/>
                          </a:solidFill>
                        </a:rPr>
                        <a:t>Not duplicate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62626"/>
                          </a:solidFill>
                        </a:rPr>
                        <a:t>Not duplicate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2E7D32"/>
                          </a:solidFill>
                        </a:rPr>
                        <a:t>Pass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62626"/>
                          </a:solidFill>
                        </a:rPr>
                        <a:t>T4  Same pattern, Java vs Python</a:t>
                      </a:r>
                    </a:p>
                  </a:txBody>
                  <a:tcPr marL="73152" marR="73152" marT="27432" marB="27432" anchor="ctr">
                    <a:solidFill>
                      <a:srgbClr val="F7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62626"/>
                          </a:solidFill>
                        </a:rPr>
                        <a:t>1 / 0.43</a:t>
                      </a:r>
                    </a:p>
                  </a:txBody>
                  <a:tcPr marL="73152" marR="73152" marT="27432" marB="27432" anchor="ctr">
                    <a:solidFill>
                      <a:srgbClr val="F7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62626"/>
                          </a:solidFill>
                        </a:rPr>
                        <a:t>Not duplicate</a:t>
                      </a:r>
                    </a:p>
                  </a:txBody>
                  <a:tcPr marL="73152" marR="73152" marT="27432" marB="27432" anchor="ctr">
                    <a:solidFill>
                      <a:srgbClr val="F7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62626"/>
                          </a:solidFill>
                        </a:rPr>
                        <a:t>Not duplicate</a:t>
                      </a:r>
                    </a:p>
                  </a:txBody>
                  <a:tcPr marL="73152" marR="73152" marT="27432" marB="27432" anchor="ctr">
                    <a:solidFill>
                      <a:srgbClr val="F7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2E7D32"/>
                          </a:solidFill>
                        </a:rPr>
                        <a:t>Pass</a:t>
                      </a:r>
                    </a:p>
                  </a:txBody>
                  <a:tcPr marL="73152" marR="73152" marT="27432" marB="27432" anchor="ctr">
                    <a:solidFill>
                      <a:srgbClr val="F7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62626"/>
                          </a:solidFill>
                        </a:rPr>
                        <a:t>T5  Case and punctuation changed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62626"/>
                          </a:solidFill>
                        </a:rPr>
                        <a:t>5 / 1.00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62626"/>
                          </a:solidFill>
                        </a:rPr>
                        <a:t>Duplicate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62626"/>
                          </a:solidFill>
                        </a:rPr>
                        <a:t>Duplicate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2E7D32"/>
                          </a:solidFill>
                        </a:rPr>
                        <a:t>Pass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62626"/>
                          </a:solidFill>
                        </a:rPr>
                        <a:t>T6  Very short question (1 token)</a:t>
                      </a:r>
                    </a:p>
                  </a:txBody>
                  <a:tcPr marL="73152" marR="73152" marT="27432" marB="27432" anchor="ctr">
                    <a:solidFill>
                      <a:srgbClr val="F7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62626"/>
                          </a:solidFill>
                        </a:rPr>
                        <a:t>1 / 1.00</a:t>
                      </a:r>
                    </a:p>
                  </a:txBody>
                  <a:tcPr marL="73152" marR="73152" marT="27432" marB="27432" anchor="ctr">
                    <a:solidFill>
                      <a:srgbClr val="F7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62626"/>
                          </a:solidFill>
                        </a:rPr>
                        <a:t>Not duplicate</a:t>
                      </a:r>
                    </a:p>
                  </a:txBody>
                  <a:tcPr marL="73152" marR="73152" marT="27432" marB="27432" anchor="ctr">
                    <a:solidFill>
                      <a:srgbClr val="F7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62626"/>
                          </a:solidFill>
                        </a:rPr>
                        <a:t>Not duplicate</a:t>
                      </a:r>
                    </a:p>
                  </a:txBody>
                  <a:tcPr marL="73152" marR="73152" marT="27432" marB="27432" anchor="ctr">
                    <a:solidFill>
                      <a:srgbClr val="F7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2E7D32"/>
                          </a:solidFill>
                        </a:rPr>
                        <a:t>Pass</a:t>
                      </a:r>
                    </a:p>
                  </a:txBody>
                  <a:tcPr marL="73152" marR="73152" marT="27432" marB="27432" anchor="ctr">
                    <a:solidFill>
                      <a:srgbClr val="F7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62626"/>
                          </a:solidFill>
                        </a:rPr>
                        <a:t>T7  Word order changed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62626"/>
                          </a:solidFill>
                        </a:rPr>
                        <a:t>3 / 0.80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62626"/>
                          </a:solidFill>
                        </a:rPr>
                        <a:t>Duplicate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62626"/>
                          </a:solidFill>
                        </a:rPr>
                        <a:t>Duplicate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2E7D32"/>
                          </a:solidFill>
                        </a:rPr>
                        <a:t>Pass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62626"/>
                          </a:solidFill>
                        </a:rPr>
                        <a:t>T8  Stricter threshold (min 4 tokens)</a:t>
                      </a:r>
                    </a:p>
                  </a:txBody>
                  <a:tcPr marL="73152" marR="73152" marT="27432" marB="27432" anchor="ctr">
                    <a:solidFill>
                      <a:srgbClr val="F7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62626"/>
                          </a:solidFill>
                        </a:rPr>
                        <a:t>3 / 0.38</a:t>
                      </a:r>
                    </a:p>
                  </a:txBody>
                  <a:tcPr marL="73152" marR="73152" marT="27432" marB="27432" anchor="ctr">
                    <a:solidFill>
                      <a:srgbClr val="F7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62626"/>
                          </a:solidFill>
                        </a:rPr>
                        <a:t>Not duplicate</a:t>
                      </a:r>
                    </a:p>
                  </a:txBody>
                  <a:tcPr marL="73152" marR="73152" marT="27432" marB="27432" anchor="ctr">
                    <a:solidFill>
                      <a:srgbClr val="F7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62626"/>
                          </a:solidFill>
                        </a:rPr>
                        <a:t>Not duplicate</a:t>
                      </a:r>
                    </a:p>
                  </a:txBody>
                  <a:tcPr marL="73152" marR="73152" marT="27432" marB="27432" anchor="ctr">
                    <a:solidFill>
                      <a:srgbClr val="F7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2E7D32"/>
                          </a:solidFill>
                        </a:rPr>
                        <a:t>Pass</a:t>
                      </a:r>
                    </a:p>
                  </a:txBody>
                  <a:tcPr marL="73152" marR="73152" marT="27432" marB="27432" anchor="ctr">
                    <a:solidFill>
                      <a:srgbClr val="F7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62626"/>
                          </a:solidFill>
                        </a:rPr>
                        <a:t>T9  Synonym only (study vs learn)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62626"/>
                          </a:solidFill>
                        </a:rPr>
                        <a:t>1 / 0.11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62626"/>
                          </a:solidFill>
                        </a:rPr>
                        <a:t>Duplicate (meaning)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62626"/>
                          </a:solidFill>
                        </a:rPr>
                        <a:t>Not duplicate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B26A00"/>
                          </a:solidFill>
                        </a:rPr>
                        <a:t>Known limit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5806440"/>
            <a:ext cx="1088136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595959"/>
                </a:solidFill>
              </a:rPr>
              <a:t>8 of 9 cases behave as designed. T9 shows the method is lexical: it cannot recognise synonyms.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848" y="221673"/>
            <a:ext cx="4718304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3736848" y="221673"/>
            <a:ext cx="47183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solidFill>
                  <a:schemeClr val="bg1"/>
                </a:solidFill>
              </a:rPr>
              <a:t>Results</a:t>
            </a:r>
          </a:p>
        </p:txBody>
      </p:sp>
      <p:pic>
        <p:nvPicPr>
          <p:cNvPr id="4" name="Picture 3" descr="2_d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43000"/>
            <a:ext cx="5394960" cy="31044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4293169"/>
            <a:ext cx="5394960" cy="7315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62626"/>
                </a:solidFill>
              </a:rPr>
              <a:t>Two-question comparison:</a:t>
            </a:r>
            <a:r>
              <a:rPr sz="1500" b="0">
                <a:solidFill>
                  <a:srgbClr val="262626"/>
                </a:solidFill>
              </a:rPr>
              <a:t> the Python-learning pair is reported as a near-duplicate (Jaccard 0.375, 3 common tokens).</a:t>
            </a:r>
          </a:p>
        </p:txBody>
      </p:sp>
      <p:pic>
        <p:nvPicPr>
          <p:cNvPr id="6" name="Picture 5" descr="4_dash_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143000"/>
            <a:ext cx="5257800" cy="386453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309360" y="5053253"/>
            <a:ext cx="5257800" cy="7315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62626"/>
                </a:solidFill>
              </a:rPr>
              <a:t>Dataset analysis:</a:t>
            </a:r>
            <a:r>
              <a:rPr sz="1500" b="0">
                <a:solidFill>
                  <a:srgbClr val="262626"/>
                </a:solidFill>
              </a:rPr>
              <a:t> 12 rows → 24 questions → 12 candidates; duplicate pairs listed with scores.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257800"/>
            <a:ext cx="5394960" cy="960120"/>
          </a:xfrm>
          <a:prstGeom prst="roundRect">
            <a:avLst>
              <a:gd name="adj" fmla="val 6000"/>
            </a:avLst>
          </a:prstGeom>
          <a:solidFill>
            <a:srgbClr val="F7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5303520"/>
            <a:ext cx="1737360" cy="502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700" b="1">
                <a:solidFill>
                  <a:srgbClr val="C00000"/>
                </a:solidFill>
              </a:rPr>
              <a:t>3 /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806440"/>
            <a:ext cx="173736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95959"/>
                </a:solidFill>
              </a:rPr>
              <a:t>demo pairs found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5303520"/>
            <a:ext cx="1737360" cy="502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700" b="1">
                <a:solidFill>
                  <a:srgbClr val="C00000"/>
                </a:solidFill>
              </a:rPr>
              <a:t>1.00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5806440"/>
            <a:ext cx="173736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95959"/>
                </a:solidFill>
              </a:rPr>
              <a:t>recall (12-pair sample)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5303520"/>
            <a:ext cx="1737360" cy="502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700" b="1">
                <a:solidFill>
                  <a:srgbClr val="C00000"/>
                </a:solidFill>
              </a:rPr>
              <a:t>0.875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60" y="5806440"/>
            <a:ext cx="173736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95959"/>
                </a:solidFill>
              </a:rPr>
              <a:t>precision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672840" y="221673"/>
            <a:ext cx="4846320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3672840" y="221673"/>
            <a:ext cx="48463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solidFill>
                  <a:schemeClr val="bg1"/>
                </a:solidFill>
              </a:rPr>
              <a:t>Performance Analysis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097280"/>
          <a:ext cx="585216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029197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05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08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60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087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5087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n</a:t>
                      </a:r>
                    </a:p>
                  </a:txBody>
                  <a:tcPr marL="73152" marR="73152" marT="27432" marB="27432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All pairs</a:t>
                      </a:r>
                    </a:p>
                  </a:txBody>
                  <a:tcPr marL="73152" marR="73152" marT="27432" marB="27432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LSH 60×1 candidates</a:t>
                      </a:r>
                    </a:p>
                  </a:txBody>
                  <a:tcPr marL="73152" marR="73152" marT="27432" marB="27432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LSH recall 60×1</a:t>
                      </a:r>
                    </a:p>
                  </a:txBody>
                  <a:tcPr marL="73152" marR="73152" marT="27432" marB="27432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LSH recall 20×3</a:t>
                      </a:r>
                    </a:p>
                  </a:txBody>
                  <a:tcPr marL="73152" marR="73152" marT="27432" marB="27432"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62626"/>
                          </a:solidFill>
                        </a:rPr>
                        <a:t>100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62626"/>
                          </a:solidFill>
                        </a:rPr>
                        <a:t>4,950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62626"/>
                          </a:solidFill>
                        </a:rPr>
                        <a:t>25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62626"/>
                          </a:solidFill>
                        </a:rPr>
                        <a:t>1.00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62626"/>
                          </a:solidFill>
                        </a:rPr>
                        <a:t>0.52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62626"/>
                          </a:solidFill>
                        </a:rPr>
                        <a:t>200</a:t>
                      </a:r>
                    </a:p>
                  </a:txBody>
                  <a:tcPr marL="73152" marR="73152" marT="27432" marB="27432" anchor="ctr">
                    <a:solidFill>
                      <a:srgbClr val="F7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62626"/>
                          </a:solidFill>
                        </a:rPr>
                        <a:t>19,900</a:t>
                      </a:r>
                    </a:p>
                  </a:txBody>
                  <a:tcPr marL="73152" marR="73152" marT="27432" marB="27432" anchor="ctr">
                    <a:solidFill>
                      <a:srgbClr val="F7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62626"/>
                          </a:solidFill>
                        </a:rPr>
                        <a:t>66</a:t>
                      </a:r>
                    </a:p>
                  </a:txBody>
                  <a:tcPr marL="73152" marR="73152" marT="27432" marB="27432" anchor="ctr">
                    <a:solidFill>
                      <a:srgbClr val="F7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62626"/>
                          </a:solidFill>
                        </a:rPr>
                        <a:t>1.00</a:t>
                      </a:r>
                    </a:p>
                  </a:txBody>
                  <a:tcPr marL="73152" marR="73152" marT="27432" marB="27432" anchor="ctr">
                    <a:solidFill>
                      <a:srgbClr val="F7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62626"/>
                          </a:solidFill>
                        </a:rPr>
                        <a:t>0.50</a:t>
                      </a:r>
                    </a:p>
                  </a:txBody>
                  <a:tcPr marL="73152" marR="73152" marT="27432" marB="27432" anchor="ctr">
                    <a:solidFill>
                      <a:srgbClr val="F7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62626"/>
                          </a:solidFill>
                        </a:rPr>
                        <a:t>400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62626"/>
                          </a:solidFill>
                        </a:rPr>
                        <a:t>79,800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62626"/>
                          </a:solidFill>
                        </a:rPr>
                        <a:t>120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62626"/>
                          </a:solidFill>
                        </a:rPr>
                        <a:t>1.00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62626"/>
                          </a:solidFill>
                        </a:rPr>
                        <a:t>0.61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62626"/>
                          </a:solidFill>
                        </a:rPr>
                        <a:t>800</a:t>
                      </a:r>
                    </a:p>
                  </a:txBody>
                  <a:tcPr marL="73152" marR="73152" marT="27432" marB="27432" anchor="ctr">
                    <a:solidFill>
                      <a:srgbClr val="F7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62626"/>
                          </a:solidFill>
                        </a:rPr>
                        <a:t>319,600</a:t>
                      </a:r>
                    </a:p>
                  </a:txBody>
                  <a:tcPr marL="73152" marR="73152" marT="27432" marB="27432" anchor="ctr">
                    <a:solidFill>
                      <a:srgbClr val="F7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62626"/>
                          </a:solidFill>
                        </a:rPr>
                        <a:t>249</a:t>
                      </a:r>
                    </a:p>
                  </a:txBody>
                  <a:tcPr marL="73152" marR="73152" marT="27432" marB="27432" anchor="ctr">
                    <a:solidFill>
                      <a:srgbClr val="F7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62626"/>
                          </a:solidFill>
                        </a:rPr>
                        <a:t>1.00</a:t>
                      </a:r>
                    </a:p>
                  </a:txBody>
                  <a:tcPr marL="73152" marR="73152" marT="27432" marB="27432" anchor="ctr">
                    <a:solidFill>
                      <a:srgbClr val="F7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62626"/>
                          </a:solidFill>
                        </a:rPr>
                        <a:t>0.51</a:t>
                      </a:r>
                    </a:p>
                  </a:txBody>
                  <a:tcPr marL="73152" marR="73152" marT="27432" marB="27432" anchor="ctr">
                    <a:solidFill>
                      <a:srgbClr val="F7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583680" y="4160520"/>
            <a:ext cx="5029200" cy="10972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C00000"/>
                </a:solidFill>
              </a:rPr>
              <a:t>At n = 800 only 249 of 319,600 pairs (0.08%) are verified, and run time is about 12× lower than brute force.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349240"/>
            <a:ext cx="11064240" cy="868680"/>
          </a:xfrm>
          <a:prstGeom prst="roundRect">
            <a:avLst>
              <a:gd name="adj" fmla="val 6000"/>
            </a:avLst>
          </a:prstGeom>
          <a:solidFill>
            <a:srgbClr val="F7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5376672"/>
            <a:ext cx="10698480" cy="8229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262626"/>
                </a:solidFill>
              </a:rPr>
              <a:t>Synthetic questions (random vocabulary with planted near-duplicates), measured on this project’s code. For very small n (100) brute force is still faster. The 20×3 setting is faster but finds only about half of the true duplicates, so 60×1 is kept.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848" y="221673"/>
            <a:ext cx="4718304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3736848" y="221673"/>
            <a:ext cx="47183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solidFill>
                  <a:schemeClr val="bg1"/>
                </a:solidFill>
              </a:rPr>
              <a:t>Conclusion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10698480" cy="841248"/>
          </a:xfrm>
          <a:prstGeom prst="roundRect">
            <a:avLst>
              <a:gd name="adj" fmla="val 6000"/>
            </a:avLst>
          </a:prstGeom>
          <a:solidFill>
            <a:srgbClr val="F7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14400" y="1417320"/>
            <a:ext cx="384048" cy="384048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1216152"/>
            <a:ext cx="9784080" cy="78638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262626"/>
                </a:solidFill>
              </a:rPr>
              <a:t>A complete pipeline was built: preprocessing, shingling, double polynomial hashing, MinHash, LSH and exact verification.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67128"/>
            <a:ext cx="10698480" cy="841248"/>
          </a:xfrm>
          <a:prstGeom prst="roundRect">
            <a:avLst>
              <a:gd name="adj" fmla="val 6000"/>
            </a:avLst>
          </a:prstGeom>
          <a:solidFill>
            <a:srgbClr val="F7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14400" y="2395728"/>
            <a:ext cx="384048" cy="384048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194560"/>
            <a:ext cx="9784080" cy="78638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262626"/>
                </a:solidFill>
              </a:rPr>
              <a:t>The demo found all 3 true duplicate pairs, and the 12-pair sample gave precision 0.875, recall 1.0, F1 0.933.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145536"/>
            <a:ext cx="10698480" cy="841248"/>
          </a:xfrm>
          <a:prstGeom prst="roundRect">
            <a:avLst>
              <a:gd name="adj" fmla="val 6000"/>
            </a:avLst>
          </a:prstGeom>
          <a:solidFill>
            <a:srgbClr val="F7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14400" y="3374136"/>
            <a:ext cx="384048" cy="384048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3172968"/>
            <a:ext cx="9784080" cy="78638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262626"/>
                </a:solidFill>
              </a:rPr>
              <a:t>LSH cut the verified pairs to under 0.1% of all pairs at n = 800 with no true duplicate lost in our tests.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123944"/>
            <a:ext cx="10698480" cy="841248"/>
          </a:xfrm>
          <a:prstGeom prst="roundRect">
            <a:avLst>
              <a:gd name="adj" fmla="val 6000"/>
            </a:avLst>
          </a:prstGeom>
          <a:solidFill>
            <a:srgbClr val="F7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914400" y="4352544"/>
            <a:ext cx="384048" cy="384048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4151376"/>
            <a:ext cx="9784080" cy="78638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262626"/>
                </a:solidFill>
              </a:rPr>
              <a:t>The Flask web app makes the system usable for comparing questions and analysing CSV/Excel datasets.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102352"/>
            <a:ext cx="10698480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914400" y="5330952"/>
            <a:ext cx="384048" cy="384048"/>
          </a:xfrm>
          <a:prstGeom prst="ellipse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5129784"/>
            <a:ext cx="9784080" cy="78638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262626"/>
                </a:solidFill>
              </a:rPr>
              <a:t>Limitation: matching is lexical, so synonyms are missed and generic phrases can cause false positives.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848" y="221673"/>
            <a:ext cx="4718304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3736848" y="221673"/>
            <a:ext cx="47183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solidFill>
                  <a:schemeClr val="bg1"/>
                </a:solidFill>
              </a:rPr>
              <a:t>Future Scope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188720"/>
            <a:ext cx="3520440" cy="4846320"/>
          </a:xfrm>
          <a:prstGeom prst="roundRect">
            <a:avLst>
              <a:gd name="adj" fmla="val 6000"/>
            </a:avLst>
          </a:prstGeom>
          <a:solidFill>
            <a:srgbClr val="F7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40080" y="1188720"/>
            <a:ext cx="3520440" cy="640080"/>
          </a:xfrm>
          <a:prstGeom prst="roundRect">
            <a:avLst>
              <a:gd name="adj" fmla="val 6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3520440" cy="6400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</a:rPr>
              <a:t>Near term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011680"/>
            <a:ext cx="3200400" cy="3931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285750" indent="-285750" algn="l">
              <a:spcAft>
                <a:spcPts val="1000"/>
              </a:spcAft>
              <a:buFont typeface="Arial"/>
              <a:buChar char="•"/>
            </a:pPr>
            <a:r>
              <a:rPr sz="1700" b="0">
                <a:solidFill>
                  <a:srgbClr val="262626"/>
                </a:solidFill>
              </a:rPr>
              <a:t>Tune bands × rows and thresholds</a:t>
            </a:r>
          </a:p>
          <a:p>
            <a:pPr marL="285750" indent="-285750" algn="l">
              <a:spcAft>
                <a:spcPts val="1000"/>
              </a:spcAft>
              <a:buFont typeface="Arial"/>
              <a:buChar char="•"/>
            </a:pPr>
            <a:r>
              <a:rPr sz="1700" b="0">
                <a:solidFill>
                  <a:srgbClr val="262626"/>
                </a:solidFill>
              </a:rPr>
              <a:t>Add question words to the stop-word list</a:t>
            </a:r>
          </a:p>
          <a:p>
            <a:pPr marL="285750" indent="-285750" algn="l">
              <a:spcAft>
                <a:spcPts val="1000"/>
              </a:spcAft>
              <a:buFont typeface="Arial"/>
              <a:buChar char="•"/>
            </a:pPr>
            <a:r>
              <a:rPr sz="1700" b="0">
                <a:solidFill>
                  <a:srgbClr val="262626"/>
                </a:solidFill>
              </a:rPr>
              <a:t>Remove empty questions before processing</a:t>
            </a:r>
          </a:p>
          <a:p>
            <a:pPr marL="285750" indent="-285750" algn="l">
              <a:spcAft>
                <a:spcPts val="1000"/>
              </a:spcAft>
              <a:buFont typeface="Arial"/>
              <a:buChar char="•"/>
            </a:pPr>
            <a:r>
              <a:rPr sz="1700" b="0">
                <a:solidFill>
                  <a:srgbClr val="262626"/>
                </a:solidFill>
              </a:rPr>
              <a:t>Evaluate on Quora Question Pairs</a:t>
            </a:r>
          </a:p>
          <a:p>
            <a:pPr marL="285750" indent="-285750" algn="l">
              <a:spcAft>
                <a:spcPts val="1000"/>
              </a:spcAft>
              <a:buFont typeface="Arial"/>
              <a:buChar char="•"/>
            </a:pPr>
            <a:r>
              <a:rPr sz="1700" b="0">
                <a:solidFill>
                  <a:srgbClr val="262626"/>
                </a:solidFill>
              </a:rPr>
              <a:t>Paging and per-user result files in the web app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188720"/>
            <a:ext cx="3520440" cy="4846320"/>
          </a:xfrm>
          <a:prstGeom prst="roundRect">
            <a:avLst>
              <a:gd name="adj" fmla="val 6000"/>
            </a:avLst>
          </a:prstGeom>
          <a:solidFill>
            <a:srgbClr val="F7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389120" y="1188720"/>
            <a:ext cx="3520440" cy="640080"/>
          </a:xfrm>
          <a:prstGeom prst="roundRect">
            <a:avLst>
              <a:gd name="adj" fmla="val 6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89120" y="1188720"/>
            <a:ext cx="3520440" cy="6400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</a:rPr>
              <a:t>Medium term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011680"/>
            <a:ext cx="3200400" cy="3931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285750" indent="-285750" algn="l">
              <a:spcAft>
                <a:spcPts val="1000"/>
              </a:spcAft>
              <a:buFont typeface="Arial"/>
              <a:buChar char="•"/>
            </a:pPr>
            <a:r>
              <a:rPr sz="1700" b="0">
                <a:solidFill>
                  <a:srgbClr val="262626"/>
                </a:solidFill>
              </a:rPr>
              <a:t>Synonym / stemming support</a:t>
            </a:r>
          </a:p>
          <a:p>
            <a:pPr marL="285750" indent="-285750" algn="l">
              <a:spcAft>
                <a:spcPts val="1000"/>
              </a:spcAft>
              <a:buFont typeface="Arial"/>
              <a:buChar char="•"/>
            </a:pPr>
            <a:r>
              <a:rPr sz="1700" b="0">
                <a:solidFill>
                  <a:srgbClr val="262626"/>
                </a:solidFill>
              </a:rPr>
              <a:t>Embedding similarity as a second stage</a:t>
            </a:r>
          </a:p>
          <a:p>
            <a:pPr marL="285750" indent="-285750" algn="l">
              <a:spcAft>
                <a:spcPts val="1000"/>
              </a:spcAft>
              <a:buFont typeface="Arial"/>
              <a:buChar char="•"/>
            </a:pPr>
            <a:r>
              <a:rPr sz="1700" b="0">
                <a:solidFill>
                  <a:srgbClr val="262626"/>
                </a:solidFill>
              </a:rPr>
              <a:t>SimHash as an alternative signature</a:t>
            </a:r>
          </a:p>
          <a:p>
            <a:pPr marL="285750" indent="-285750" algn="l">
              <a:spcAft>
                <a:spcPts val="1000"/>
              </a:spcAft>
              <a:buFont typeface="Arial"/>
              <a:buChar char="•"/>
            </a:pPr>
            <a:r>
              <a:rPr sz="1700" b="0">
                <a:solidFill>
                  <a:srgbClr val="262626"/>
                </a:solidFill>
              </a:rPr>
              <a:t>Automated unit tests</a:t>
            </a:r>
          </a:p>
          <a:p>
            <a:pPr marL="285750" indent="-285750" algn="l">
              <a:spcAft>
                <a:spcPts val="1000"/>
              </a:spcAft>
              <a:buFont typeface="Arial"/>
              <a:buChar char="•"/>
            </a:pPr>
            <a:r>
              <a:rPr sz="1700" b="0">
                <a:solidFill>
                  <a:srgbClr val="262626"/>
                </a:solidFill>
              </a:rPr>
              <a:t>REST API for other applications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59" y="1188720"/>
            <a:ext cx="3520440" cy="4846320"/>
          </a:xfrm>
          <a:prstGeom prst="roundRect">
            <a:avLst>
              <a:gd name="adj" fmla="val 6000"/>
            </a:avLst>
          </a:prstGeom>
          <a:solidFill>
            <a:srgbClr val="F7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138159" y="1188720"/>
            <a:ext cx="3520440" cy="640080"/>
          </a:xfrm>
          <a:prstGeom prst="roundRect">
            <a:avLst>
              <a:gd name="adj" fmla="val 6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38159" y="1188720"/>
            <a:ext cx="3520440" cy="6400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</a:rPr>
              <a:t>Long term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39" y="2011680"/>
            <a:ext cx="3200400" cy="3931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285750" indent="-285750" algn="l">
              <a:spcAft>
                <a:spcPts val="1000"/>
              </a:spcAft>
              <a:buFont typeface="Arial"/>
              <a:buChar char="•"/>
            </a:pPr>
            <a:r>
              <a:rPr sz="1700" b="0">
                <a:solidFill>
                  <a:srgbClr val="262626"/>
                </a:solidFill>
              </a:rPr>
              <a:t>Semantic duplicate detection with sentence embeddings</a:t>
            </a:r>
          </a:p>
          <a:p>
            <a:pPr marL="285750" indent="-285750" algn="l">
              <a:spcAft>
                <a:spcPts val="1000"/>
              </a:spcAft>
              <a:buFont typeface="Arial"/>
              <a:buChar char="•"/>
            </a:pPr>
            <a:r>
              <a:rPr sz="1700" b="0">
                <a:solidFill>
                  <a:srgbClr val="262626"/>
                </a:solidFill>
              </a:rPr>
              <a:t>Multi-language support</a:t>
            </a:r>
          </a:p>
          <a:p>
            <a:pPr marL="285750" indent="-285750" algn="l">
              <a:spcAft>
                <a:spcPts val="1000"/>
              </a:spcAft>
              <a:buFont typeface="Arial"/>
              <a:buChar char="•"/>
            </a:pPr>
            <a:r>
              <a:rPr sz="1700" b="0">
                <a:solidFill>
                  <a:srgbClr val="262626"/>
                </a:solidFill>
              </a:rPr>
              <a:t>Streaming check on every new question</a:t>
            </a:r>
          </a:p>
          <a:p>
            <a:pPr marL="285750" indent="-285750" algn="l">
              <a:spcAft>
                <a:spcPts val="1000"/>
              </a:spcAft>
              <a:buFont typeface="Arial"/>
              <a:buChar char="•"/>
            </a:pPr>
            <a:r>
              <a:rPr sz="1700" b="0">
                <a:solidFill>
                  <a:srgbClr val="262626"/>
                </a:solidFill>
              </a:rPr>
              <a:t>Production deployment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848" y="221673"/>
            <a:ext cx="4718304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3736848" y="221673"/>
            <a:ext cx="47183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solidFill>
                  <a:schemeClr val="bg1"/>
                </a:solidFill>
              </a:rP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5394960" cy="5029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600" b="1">
                <a:solidFill>
                  <a:srgbClr val="262626"/>
                </a:solidFill>
              </a:rPr>
              <a:t>[1]</a:t>
            </a:r>
            <a:r>
              <a:rPr sz="1600" b="0">
                <a:solidFill>
                  <a:srgbClr val="262626"/>
                </a:solidFill>
              </a:rPr>
              <a:t>  A. Z. Broder, “On the resemblance and containment of documents,” IEEE SEQUENCES, 1997.</a:t>
            </a:r>
          </a:p>
          <a:p>
            <a:pPr algn="l">
              <a:spcAft>
                <a:spcPts val="1200"/>
              </a:spcAft>
            </a:pPr>
            <a:r>
              <a:rPr sz="1600" b="1">
                <a:solidFill>
                  <a:srgbClr val="262626"/>
                </a:solidFill>
              </a:rPr>
              <a:t>[2]</a:t>
            </a:r>
            <a:r>
              <a:rPr sz="1600" b="0">
                <a:solidFill>
                  <a:srgbClr val="262626"/>
                </a:solidFill>
              </a:rPr>
              <a:t>  P. Indyk and R. Motwani, “Approximate nearest neighbors: towards removing the curse of dimensionality,” ACM STOC, 1998.</a:t>
            </a:r>
          </a:p>
          <a:p>
            <a:pPr algn="l">
              <a:spcAft>
                <a:spcPts val="1200"/>
              </a:spcAft>
            </a:pPr>
            <a:r>
              <a:rPr sz="1600" b="1">
                <a:solidFill>
                  <a:srgbClr val="262626"/>
                </a:solidFill>
              </a:rPr>
              <a:t>[3]</a:t>
            </a:r>
            <a:r>
              <a:rPr sz="1600" b="0">
                <a:solidFill>
                  <a:srgbClr val="262626"/>
                </a:solidFill>
              </a:rPr>
              <a:t>  A. Broder, M. Charikar, A. Frieze, M. Mitzenmacher, “Min-wise independent permutations,” JCSS 60(3), 2000.</a:t>
            </a:r>
          </a:p>
          <a:p>
            <a:pPr algn="l">
              <a:spcAft>
                <a:spcPts val="1200"/>
              </a:spcAft>
            </a:pPr>
            <a:r>
              <a:rPr sz="1600" b="1">
                <a:solidFill>
                  <a:srgbClr val="262626"/>
                </a:solidFill>
              </a:rPr>
              <a:t>[4]</a:t>
            </a:r>
            <a:r>
              <a:rPr sz="1600" b="0">
                <a:solidFill>
                  <a:srgbClr val="262626"/>
                </a:solidFill>
              </a:rPr>
              <a:t>  M. Charikar, “Similarity estimation techniques from rounding algorithms,” ACM STOC, 2002.</a:t>
            </a:r>
          </a:p>
          <a:p>
            <a:pPr algn="l">
              <a:spcAft>
                <a:spcPts val="1200"/>
              </a:spcAft>
            </a:pPr>
            <a:r>
              <a:rPr sz="1600" b="1">
                <a:solidFill>
                  <a:srgbClr val="262626"/>
                </a:solidFill>
              </a:rPr>
              <a:t>[5]</a:t>
            </a:r>
            <a:r>
              <a:rPr sz="1600" b="0">
                <a:solidFill>
                  <a:srgbClr val="262626"/>
                </a:solidFill>
              </a:rPr>
              <a:t>  M. Henzinger, “Finding near-duplicate web pages: a large-scale evaluation of algorithms,” ACM SIGIR, 2006.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143000"/>
            <a:ext cx="5394960" cy="5029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600" b="1">
                <a:solidFill>
                  <a:srgbClr val="262626"/>
                </a:solidFill>
              </a:rPr>
              <a:t>[6]</a:t>
            </a:r>
            <a:r>
              <a:rPr sz="1600" b="0">
                <a:solidFill>
                  <a:srgbClr val="262626"/>
                </a:solidFill>
              </a:rPr>
              <a:t>  G. Manku, A. Jain, A. Das Sarma, “Detecting near-duplicates for web crawling,” WWW, 2007.</a:t>
            </a:r>
          </a:p>
          <a:p>
            <a:pPr algn="l">
              <a:spcAft>
                <a:spcPts val="1200"/>
              </a:spcAft>
            </a:pPr>
            <a:r>
              <a:rPr sz="1600" b="1">
                <a:solidFill>
                  <a:srgbClr val="262626"/>
                </a:solidFill>
              </a:rPr>
              <a:t>[7]</a:t>
            </a:r>
            <a:r>
              <a:rPr sz="1600" b="0">
                <a:solidFill>
                  <a:srgbClr val="262626"/>
                </a:solidFill>
              </a:rPr>
              <a:t>  J. Leskovec, A. Rajaraman, J. Ullman, Mining of Massive Datasets, Ch. 3, mmds.org.</a:t>
            </a:r>
          </a:p>
          <a:p>
            <a:pPr algn="l">
              <a:spcAft>
                <a:spcPts val="1200"/>
              </a:spcAft>
            </a:pPr>
            <a:r>
              <a:rPr sz="1600" b="1">
                <a:solidFill>
                  <a:srgbClr val="262626"/>
                </a:solidFill>
              </a:rPr>
              <a:t>[8]</a:t>
            </a:r>
            <a:r>
              <a:rPr sz="1600" b="0">
                <a:solidFill>
                  <a:srgbClr val="262626"/>
                </a:solidFill>
              </a:rPr>
              <a:t>  Quora Question Pairs dataset, Kaggle: kaggle.com/c/quora-question-pairs</a:t>
            </a:r>
          </a:p>
          <a:p>
            <a:pPr algn="l">
              <a:spcAft>
                <a:spcPts val="1200"/>
              </a:spcAft>
            </a:pPr>
            <a:r>
              <a:rPr sz="1600" b="1">
                <a:solidFill>
                  <a:srgbClr val="262626"/>
                </a:solidFill>
              </a:rPr>
              <a:t>[9]</a:t>
            </a:r>
            <a:r>
              <a:rPr sz="1600" b="0">
                <a:solidFill>
                  <a:srgbClr val="262626"/>
                </a:solidFill>
              </a:rPr>
              <a:t>  R. Karp and M. Rabin, “Efficient randomized pattern-matching algorithms,” IBM J. Res. Dev., 1987.</a:t>
            </a:r>
          </a:p>
          <a:p>
            <a:pPr algn="l">
              <a:spcAft>
                <a:spcPts val="1200"/>
              </a:spcAft>
            </a:pPr>
            <a:r>
              <a:rPr sz="1600" b="1">
                <a:solidFill>
                  <a:srgbClr val="262626"/>
                </a:solidFill>
              </a:rPr>
              <a:t>[10]</a:t>
            </a:r>
            <a:r>
              <a:rPr sz="1600" b="0">
                <a:solidFill>
                  <a:srgbClr val="262626"/>
                </a:solidFill>
              </a:rPr>
              <a:t>  datasketch library (MinHash and LSH for Python): github.com/ekzhu/datasketch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7" y="2619376"/>
            <a:ext cx="4946253" cy="135782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3135434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2681</Words>
  <Application>Microsoft Office PowerPoint</Application>
  <PresentationFormat>Widescreen</PresentationFormat>
  <Paragraphs>413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Courier New</vt:lpstr>
      <vt:lpstr>Times New Roman</vt:lpstr>
      <vt:lpstr>Office Theme</vt:lpstr>
      <vt:lpstr>       Data Structures and Algorithms -3 (25CS2103E)  Near-Duplicate Question Finder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Sirisha Devi</dc:creator>
  <cp:lastModifiedBy>Penmatsa Gowtham Varma</cp:lastModifiedBy>
  <cp:revision>20</cp:revision>
  <dcterms:created xsi:type="dcterms:W3CDTF">2024-08-29T05:25:00Z</dcterms:created>
  <dcterms:modified xsi:type="dcterms:W3CDTF">2026-10-12T05:34:41Z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FB2A1F042FC047C6B4D7E0BF0C20B2E9_13</vt:lpwstr>
  </property>
  <property fmtid="{D5CDD505-2E9C-101B-9397-08002B2CF9AE}" pid="3" name="KSOProductBuildVer">
    <vt:lpwstr>1033-12.2.0.23131</vt:lpwstr>
  </property>
</Properties>
</file>